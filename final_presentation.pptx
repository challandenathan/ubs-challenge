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6858000" cx="12192000"/>
  <p:notesSz cx="6858000" cy="12192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6" roundtripDataSignature="AMtx7mizYDPVuYsA/Wsjm7QTpSqgGmj4R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952ADB60-F521-4B44-9BCE-6ACEAE689FEF}">
  <a:tblStyle styleId="{952ADB60-F521-4B44-9BCE-6ACEAE689FEF}"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6"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 name="Shape 16"/>
        <p:cNvGrpSpPr/>
        <p:nvPr/>
      </p:nvGrpSpPr>
      <p:grpSpPr>
        <a:xfrm>
          <a:off x="0" y="0"/>
          <a:ext cx="0" cy="0"/>
          <a:chOff x="0" y="0"/>
          <a:chExt cx="0" cy="0"/>
        </a:xfrm>
      </p:grpSpPr>
      <p:sp>
        <p:nvSpPr>
          <p:cNvPr id="17" name="Google Shape;1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 name="Google Shape;1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Introduce the team and the scenario: third-party risk intelligence on fictional vendors.</a:t>
            </a:r>
            <a:endParaRPr/>
          </a:p>
        </p:txBody>
      </p:sp>
      <p:sp>
        <p:nvSpPr>
          <p:cNvPr id="19" name="Google Shape;1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Frame the user: a third-party risk analyst. The pain point is volume and timing, not lack of data.</a:t>
            </a:r>
            <a:endParaRPr/>
          </a:p>
        </p:txBody>
      </p:sp>
      <p:sp>
        <p:nvSpPr>
          <p:cNvPr id="30" name="Google Shape;30;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1" name="Google Shape;5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Walk the flow left to right. Emphasise that the LLM only classifies; transparent rules do the scoring.</a:t>
            </a:r>
            <a:endParaRPr/>
          </a:p>
        </p:txBody>
      </p:sp>
      <p:sp>
        <p:nvSpPr>
          <p:cNvPr id="52" name="Google Shape;5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9" name="Google Shape;89;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0" name="Google Shape;90;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Answer the data provenance question up front. Mention that AI-generated records were labelled and checked.</a:t>
            </a:r>
            <a:endParaRPr/>
          </a:p>
        </p:txBody>
      </p:sp>
      <p:sp>
        <p:nvSpPr>
          <p:cNvPr id="97" name="Google Shape;97;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7" name="Google Shape;117;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Likelihood: is it real? Impact: how much would it hurt us, given this vendor? Residual: what is left after controls.</a:t>
            </a:r>
            <a:endParaRPr/>
          </a:p>
        </p:txBody>
      </p:sp>
      <p:sp>
        <p:nvSpPr>
          <p:cNvPr id="118" name="Google Shape;118;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Owner teams follow the cross-functional stakeholder model: risk, procurement, security, compliance, privacy.</a:t>
            </a:r>
            <a:endParaRPr/>
          </a:p>
        </p:txBody>
      </p:sp>
      <p:sp>
        <p:nvSpPr>
          <p:cNvPr id="152" name="Google Shape;152;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5" name="Google Shape;165;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exactly what the dashboard shows per alert.</a:t>
            </a:r>
            <a:endParaRPr/>
          </a:p>
        </p:txBody>
      </p:sp>
      <p:sp>
        <p:nvSpPr>
          <p:cNvPr id="166" name="Google Shape;166;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8" name="Google Shape;198;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7" name="Google Shape;217;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18" name="Google Shape;218;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LAIN">
  <p:cSld name="PLAIN">
    <p:bg>
      <p:bgPr>
        <a:solidFill>
          <a:srgbClr val="FFFFFF"/>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FFFFF"/>
        </a:solidFill>
      </p:bgPr>
    </p:bg>
    <p:spTree>
      <p:nvGrpSpPr>
        <p:cNvPr id="12" name="Shape 12"/>
        <p:cNvGrpSpPr/>
        <p:nvPr/>
      </p:nvGrpSpPr>
      <p:grpSpPr>
        <a:xfrm>
          <a:off x="0" y="0"/>
          <a:ext cx="0" cy="0"/>
          <a:chOff x="0" y="0"/>
          <a:chExt cx="0" cy="0"/>
        </a:xfrm>
      </p:grpSpPr>
      <p:sp>
        <p:nvSpPr>
          <p:cNvPr id="13" name="Google Shape;13;p18"/>
          <p:cNvSpPr/>
          <p:nvPr/>
        </p:nvSpPr>
        <p:spPr>
          <a:xfrm>
            <a:off x="502920" y="6400800"/>
            <a:ext cx="292608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0000"/>
              </a:buClr>
              <a:buSzPts val="1000"/>
              <a:buFont typeface="Arial"/>
              <a:buNone/>
            </a:pPr>
            <a:r>
              <a:rPr b="1" i="0" lang="en-US" sz="1000" u="none" cap="none" strike="noStrike">
                <a:solidFill>
                  <a:srgbClr val="E60000"/>
                </a:solidFill>
                <a:latin typeface="Arial"/>
                <a:ea typeface="Arial"/>
                <a:cs typeface="Arial"/>
                <a:sym typeface="Arial"/>
              </a:rPr>
              <a:t>Third-Party Risk Intelligence</a:t>
            </a:r>
            <a:endParaRPr b="0" i="0" sz="1000" u="none" cap="none" strike="noStrike">
              <a:solidFill>
                <a:schemeClr val="dk1"/>
              </a:solidFill>
              <a:latin typeface="Calibri"/>
              <a:ea typeface="Calibri"/>
              <a:cs typeface="Calibri"/>
              <a:sym typeface="Calibri"/>
            </a:endParaRPr>
          </a:p>
        </p:txBody>
      </p:sp>
      <p:sp>
        <p:nvSpPr>
          <p:cNvPr id="14" name="Google Shape;14;p18"/>
          <p:cNvSpPr txBox="1"/>
          <p:nvPr>
            <p:ph idx="12" type="sldNum"/>
          </p:nvPr>
        </p:nvSpPr>
        <p:spPr>
          <a:xfrm>
            <a:off x="11247120" y="6400800"/>
            <a:ext cx="438912" cy="274320"/>
          </a:xfrm>
          <a:prstGeom prst="rect">
            <a:avLst/>
          </a:prstGeom>
          <a:noFill/>
          <a:ln>
            <a:noFill/>
          </a:ln>
        </p:spPr>
        <p:txBody>
          <a:bodyPr anchorCtr="0" anchor="t" bIns="45700" lIns="91425" spcFirstLastPara="1" rIns="91425" wrap="square" tIns="45700">
            <a:noAutofit/>
          </a:bodyPr>
          <a:lstStyle>
            <a:lvl1pPr indent="0" lvl="0" marL="0" marR="0" algn="r">
              <a:spcBef>
                <a:spcPts val="0"/>
              </a:spcBef>
              <a:buNone/>
              <a:defRPr b="0" i="0" sz="800" u="none" cap="none" strike="noStrike">
                <a:solidFill>
                  <a:srgbClr val="7F7F7F"/>
                </a:solidFill>
                <a:latin typeface="Arial"/>
                <a:ea typeface="Arial"/>
                <a:cs typeface="Arial"/>
                <a:sym typeface="Arial"/>
              </a:defRPr>
            </a:lvl1pPr>
            <a:lvl2pPr indent="0" lvl="1" marL="0" marR="0" algn="r">
              <a:spcBef>
                <a:spcPts val="0"/>
              </a:spcBef>
              <a:buNone/>
              <a:defRPr b="0" i="0" sz="800" u="none" cap="none" strike="noStrike">
                <a:solidFill>
                  <a:srgbClr val="7F7F7F"/>
                </a:solidFill>
                <a:latin typeface="Arial"/>
                <a:ea typeface="Arial"/>
                <a:cs typeface="Arial"/>
                <a:sym typeface="Arial"/>
              </a:defRPr>
            </a:lvl2pPr>
            <a:lvl3pPr indent="0" lvl="2" marL="0" marR="0" algn="r">
              <a:spcBef>
                <a:spcPts val="0"/>
              </a:spcBef>
              <a:buNone/>
              <a:defRPr b="0" i="0" sz="800" u="none" cap="none" strike="noStrike">
                <a:solidFill>
                  <a:srgbClr val="7F7F7F"/>
                </a:solidFill>
                <a:latin typeface="Arial"/>
                <a:ea typeface="Arial"/>
                <a:cs typeface="Arial"/>
                <a:sym typeface="Arial"/>
              </a:defRPr>
            </a:lvl3pPr>
            <a:lvl4pPr indent="0" lvl="3" marL="0" marR="0" algn="r">
              <a:spcBef>
                <a:spcPts val="0"/>
              </a:spcBef>
              <a:buNone/>
              <a:defRPr b="0" i="0" sz="800" u="none" cap="none" strike="noStrike">
                <a:solidFill>
                  <a:srgbClr val="7F7F7F"/>
                </a:solidFill>
                <a:latin typeface="Arial"/>
                <a:ea typeface="Arial"/>
                <a:cs typeface="Arial"/>
                <a:sym typeface="Arial"/>
              </a:defRPr>
            </a:lvl4pPr>
            <a:lvl5pPr indent="0" lvl="4" marL="0" marR="0" algn="r">
              <a:spcBef>
                <a:spcPts val="0"/>
              </a:spcBef>
              <a:buNone/>
              <a:defRPr b="0" i="0" sz="800" u="none" cap="none" strike="noStrike">
                <a:solidFill>
                  <a:srgbClr val="7F7F7F"/>
                </a:solidFill>
                <a:latin typeface="Arial"/>
                <a:ea typeface="Arial"/>
                <a:cs typeface="Arial"/>
                <a:sym typeface="Arial"/>
              </a:defRPr>
            </a:lvl5pPr>
            <a:lvl6pPr indent="0" lvl="5" marL="0" marR="0" algn="r">
              <a:spcBef>
                <a:spcPts val="0"/>
              </a:spcBef>
              <a:buNone/>
              <a:defRPr b="0" i="0" sz="800" u="none" cap="none" strike="noStrike">
                <a:solidFill>
                  <a:srgbClr val="7F7F7F"/>
                </a:solidFill>
                <a:latin typeface="Arial"/>
                <a:ea typeface="Arial"/>
                <a:cs typeface="Arial"/>
                <a:sym typeface="Arial"/>
              </a:defRPr>
            </a:lvl6pPr>
            <a:lvl7pPr indent="0" lvl="6" marL="0" marR="0" algn="r">
              <a:spcBef>
                <a:spcPts val="0"/>
              </a:spcBef>
              <a:buNone/>
              <a:defRPr b="0" i="0" sz="800" u="none" cap="none" strike="noStrike">
                <a:solidFill>
                  <a:srgbClr val="7F7F7F"/>
                </a:solidFill>
                <a:latin typeface="Arial"/>
                <a:ea typeface="Arial"/>
                <a:cs typeface="Arial"/>
                <a:sym typeface="Arial"/>
              </a:defRPr>
            </a:lvl7pPr>
            <a:lvl8pPr indent="0" lvl="7" marL="0" marR="0" algn="r">
              <a:spcBef>
                <a:spcPts val="0"/>
              </a:spcBef>
              <a:buNone/>
              <a:defRPr b="0" i="0" sz="800" u="none" cap="none" strike="noStrike">
                <a:solidFill>
                  <a:srgbClr val="7F7F7F"/>
                </a:solidFill>
                <a:latin typeface="Arial"/>
                <a:ea typeface="Arial"/>
                <a:cs typeface="Arial"/>
                <a:sym typeface="Arial"/>
              </a:defRPr>
            </a:lvl8pPr>
            <a:lvl9pPr indent="0" lvl="8" marL="0" marR="0" algn="r">
              <a:spcBef>
                <a:spcPts val="0"/>
              </a:spcBef>
              <a:buNone/>
              <a:defRPr b="0" i="0" sz="8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5" name="Shape 15"/>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
        <p:nvSpPr>
          <p:cNvPr id="10" name="Google Shape;10;p16"/>
          <p:cNvSpPr txBox="1"/>
          <p:nvPr>
            <p:ph idx="12" type="sldNum"/>
          </p:nvPr>
        </p:nvSpPr>
        <p:spPr>
          <a:xfrm>
            <a:off x="11247120" y="6400800"/>
            <a:ext cx="438912" cy="274320"/>
          </a:xfrm>
          <a:prstGeom prst="rect">
            <a:avLst/>
          </a:prstGeom>
          <a:noFill/>
          <a:ln>
            <a:noFill/>
          </a:ln>
        </p:spPr>
        <p:txBody>
          <a:bodyPr anchorCtr="0" anchor="t" bIns="45700" lIns="91425" spcFirstLastPara="1" rIns="91425" wrap="square" tIns="45700">
            <a:noAutofit/>
          </a:bodyPr>
          <a:lstStyle>
            <a:lvl1pPr indent="0" lvl="0" marL="0" marR="0" rtl="0" algn="r">
              <a:spcBef>
                <a:spcPts val="0"/>
              </a:spcBef>
              <a:buNone/>
              <a:defRPr b="0" i="0" sz="800" u="none" cap="none" strike="noStrike">
                <a:solidFill>
                  <a:srgbClr val="7F7F7F"/>
                </a:solidFill>
                <a:latin typeface="Arial"/>
                <a:ea typeface="Arial"/>
                <a:cs typeface="Arial"/>
                <a:sym typeface="Arial"/>
              </a:defRPr>
            </a:lvl1pPr>
            <a:lvl2pPr indent="0" lvl="1" marL="0" marR="0" rtl="0" algn="r">
              <a:spcBef>
                <a:spcPts val="0"/>
              </a:spcBef>
              <a:buNone/>
              <a:defRPr b="0" i="0" sz="800" u="none" cap="none" strike="noStrike">
                <a:solidFill>
                  <a:srgbClr val="7F7F7F"/>
                </a:solidFill>
                <a:latin typeface="Arial"/>
                <a:ea typeface="Arial"/>
                <a:cs typeface="Arial"/>
                <a:sym typeface="Arial"/>
              </a:defRPr>
            </a:lvl2pPr>
            <a:lvl3pPr indent="0" lvl="2" marL="0" marR="0" rtl="0" algn="r">
              <a:spcBef>
                <a:spcPts val="0"/>
              </a:spcBef>
              <a:buNone/>
              <a:defRPr b="0" i="0" sz="800" u="none" cap="none" strike="noStrike">
                <a:solidFill>
                  <a:srgbClr val="7F7F7F"/>
                </a:solidFill>
                <a:latin typeface="Arial"/>
                <a:ea typeface="Arial"/>
                <a:cs typeface="Arial"/>
                <a:sym typeface="Arial"/>
              </a:defRPr>
            </a:lvl3pPr>
            <a:lvl4pPr indent="0" lvl="3" marL="0" marR="0" rtl="0" algn="r">
              <a:spcBef>
                <a:spcPts val="0"/>
              </a:spcBef>
              <a:buNone/>
              <a:defRPr b="0" i="0" sz="800" u="none" cap="none" strike="noStrike">
                <a:solidFill>
                  <a:srgbClr val="7F7F7F"/>
                </a:solidFill>
                <a:latin typeface="Arial"/>
                <a:ea typeface="Arial"/>
                <a:cs typeface="Arial"/>
                <a:sym typeface="Arial"/>
              </a:defRPr>
            </a:lvl4pPr>
            <a:lvl5pPr indent="0" lvl="4" marL="0" marR="0" rtl="0" algn="r">
              <a:spcBef>
                <a:spcPts val="0"/>
              </a:spcBef>
              <a:buNone/>
              <a:defRPr b="0" i="0" sz="800" u="none" cap="none" strike="noStrike">
                <a:solidFill>
                  <a:srgbClr val="7F7F7F"/>
                </a:solidFill>
                <a:latin typeface="Arial"/>
                <a:ea typeface="Arial"/>
                <a:cs typeface="Arial"/>
                <a:sym typeface="Arial"/>
              </a:defRPr>
            </a:lvl5pPr>
            <a:lvl6pPr indent="0" lvl="5" marL="0" marR="0" rtl="0" algn="r">
              <a:spcBef>
                <a:spcPts val="0"/>
              </a:spcBef>
              <a:buNone/>
              <a:defRPr b="0" i="0" sz="800" u="none" cap="none" strike="noStrike">
                <a:solidFill>
                  <a:srgbClr val="7F7F7F"/>
                </a:solidFill>
                <a:latin typeface="Arial"/>
                <a:ea typeface="Arial"/>
                <a:cs typeface="Arial"/>
                <a:sym typeface="Arial"/>
              </a:defRPr>
            </a:lvl6pPr>
            <a:lvl7pPr indent="0" lvl="6" marL="0" marR="0" rtl="0" algn="r">
              <a:spcBef>
                <a:spcPts val="0"/>
              </a:spcBef>
              <a:buNone/>
              <a:defRPr b="0" i="0" sz="800" u="none" cap="none" strike="noStrike">
                <a:solidFill>
                  <a:srgbClr val="7F7F7F"/>
                </a:solidFill>
                <a:latin typeface="Arial"/>
                <a:ea typeface="Arial"/>
                <a:cs typeface="Arial"/>
                <a:sym typeface="Arial"/>
              </a:defRPr>
            </a:lvl7pPr>
            <a:lvl8pPr indent="0" lvl="7" marL="0" marR="0" rtl="0" algn="r">
              <a:spcBef>
                <a:spcPts val="0"/>
              </a:spcBef>
              <a:buNone/>
              <a:defRPr b="0" i="0" sz="800" u="none" cap="none" strike="noStrike">
                <a:solidFill>
                  <a:srgbClr val="7F7F7F"/>
                </a:solidFill>
                <a:latin typeface="Arial"/>
                <a:ea typeface="Arial"/>
                <a:cs typeface="Arial"/>
                <a:sym typeface="Arial"/>
              </a:defRPr>
            </a:lvl8pPr>
            <a:lvl9pPr indent="0" lvl="8" marL="0" marR="0" rtl="0" algn="r">
              <a:spcBef>
                <a:spcPts val="0"/>
              </a:spcBef>
              <a:buNone/>
              <a:defRPr b="0" i="0" sz="800" u="none" cap="none" strike="noStrike">
                <a:solidFill>
                  <a:srgbClr val="7F7F7F"/>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 name="Shape 20"/>
        <p:cNvGrpSpPr/>
        <p:nvPr/>
      </p:nvGrpSpPr>
      <p:grpSpPr>
        <a:xfrm>
          <a:off x="0" y="0"/>
          <a:ext cx="0" cy="0"/>
          <a:chOff x="0" y="0"/>
          <a:chExt cx="0" cy="0"/>
        </a:xfrm>
      </p:grpSpPr>
      <p:sp>
        <p:nvSpPr>
          <p:cNvPr id="21" name="Google Shape;21;p1"/>
          <p:cNvSpPr txBox="1"/>
          <p:nvPr/>
        </p:nvSpPr>
        <p:spPr>
          <a:xfrm>
            <a:off x="502920" y="502920"/>
            <a:ext cx="54864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0000"/>
              </a:buClr>
              <a:buSzPts val="1400"/>
              <a:buFont typeface="Arial"/>
              <a:buNone/>
            </a:pPr>
            <a:r>
              <a:rPr b="1" i="0" lang="en-US" sz="1600" u="none" cap="none" strike="noStrike">
                <a:solidFill>
                  <a:srgbClr val="E60000"/>
                </a:solidFill>
                <a:latin typeface="Arial"/>
                <a:ea typeface="Arial"/>
                <a:cs typeface="Arial"/>
                <a:sym typeface="Arial"/>
              </a:rPr>
              <a:t>Student Mini-Hackathon  ·  Scenario 2</a:t>
            </a:r>
            <a:endParaRPr b="0" i="0" sz="1600" u="none" cap="none" strike="noStrike">
              <a:solidFill>
                <a:schemeClr val="dk1"/>
              </a:solidFill>
              <a:latin typeface="Calibri"/>
              <a:ea typeface="Calibri"/>
              <a:cs typeface="Calibri"/>
              <a:sym typeface="Calibri"/>
            </a:endParaRPr>
          </a:p>
        </p:txBody>
      </p:sp>
      <p:sp>
        <p:nvSpPr>
          <p:cNvPr id="22" name="Google Shape;22;p1"/>
          <p:cNvSpPr/>
          <p:nvPr/>
        </p:nvSpPr>
        <p:spPr>
          <a:xfrm>
            <a:off x="548640" y="2148840"/>
            <a:ext cx="64008" cy="1600200"/>
          </a:xfrm>
          <a:prstGeom prst="rect">
            <a:avLst/>
          </a:prstGeom>
          <a:solidFill>
            <a:srgbClr val="E60000"/>
          </a:solidFill>
          <a:ln cap="flat" cmpd="sng" w="12700">
            <a:solidFill>
              <a:srgbClr val="E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
          <p:cNvSpPr txBox="1"/>
          <p:nvPr/>
        </p:nvSpPr>
        <p:spPr>
          <a:xfrm>
            <a:off x="868680" y="2103120"/>
            <a:ext cx="10515600" cy="10058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5400"/>
              <a:buFont typeface="Arial"/>
              <a:buNone/>
            </a:pPr>
            <a:r>
              <a:rPr b="0" i="0" lang="en-US" sz="5400" u="none" cap="none" strike="noStrike">
                <a:solidFill>
                  <a:srgbClr val="000000"/>
                </a:solidFill>
                <a:latin typeface="Arial"/>
                <a:ea typeface="Arial"/>
                <a:cs typeface="Arial"/>
                <a:sym typeface="Arial"/>
              </a:rPr>
              <a:t>Third-Party Risk Intelligence</a:t>
            </a:r>
            <a:endParaRPr b="0" i="0" sz="5400" u="none" cap="none" strike="noStrike">
              <a:solidFill>
                <a:schemeClr val="dk1"/>
              </a:solidFill>
              <a:latin typeface="Calibri"/>
              <a:ea typeface="Calibri"/>
              <a:cs typeface="Calibri"/>
              <a:sym typeface="Calibri"/>
            </a:endParaRPr>
          </a:p>
        </p:txBody>
      </p:sp>
      <p:sp>
        <p:nvSpPr>
          <p:cNvPr id="24" name="Google Shape;24;p1"/>
          <p:cNvSpPr txBox="1"/>
          <p:nvPr/>
        </p:nvSpPr>
        <p:spPr>
          <a:xfrm>
            <a:off x="868680" y="3154680"/>
            <a:ext cx="1051560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600"/>
              <a:buFont typeface="Arial"/>
              <a:buNone/>
            </a:pPr>
            <a:r>
              <a:rPr b="0" i="0" lang="en-US" sz="2600" u="none" cap="none" strike="noStrike">
                <a:solidFill>
                  <a:srgbClr val="000000"/>
                </a:solidFill>
                <a:latin typeface="Arial"/>
                <a:ea typeface="Arial"/>
                <a:cs typeface="Arial"/>
                <a:sym typeface="Arial"/>
              </a:rPr>
              <a:t>Detecting vendor risk before it reaches the bank</a:t>
            </a:r>
            <a:endParaRPr b="0" i="0" sz="2600" u="none" cap="none" strike="noStrike">
              <a:solidFill>
                <a:schemeClr val="dk1"/>
              </a:solidFill>
              <a:latin typeface="Calibri"/>
              <a:ea typeface="Calibri"/>
              <a:cs typeface="Calibri"/>
              <a:sym typeface="Calibri"/>
            </a:endParaRPr>
          </a:p>
        </p:txBody>
      </p:sp>
      <p:sp>
        <p:nvSpPr>
          <p:cNvPr id="25" name="Google Shape;25;p1"/>
          <p:cNvSpPr txBox="1"/>
          <p:nvPr/>
        </p:nvSpPr>
        <p:spPr>
          <a:xfrm>
            <a:off x="502920" y="5897880"/>
            <a:ext cx="8229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200"/>
              <a:buFont typeface="Arial"/>
              <a:buNone/>
            </a:pPr>
            <a:r>
              <a:rPr lang="en-US"/>
              <a:t>Team 7 - Adnana Ivana, Yafeng Song, Nicola Degiorgi, Nathan Challande</a:t>
            </a:r>
            <a:endParaRPr b="0" i="0" u="none" cap="none" strike="noStrike">
              <a:solidFill>
                <a:schemeClr val="dk1"/>
              </a:solidFill>
              <a:latin typeface="Calibri"/>
              <a:ea typeface="Calibri"/>
              <a:cs typeface="Calibri"/>
              <a:sym typeface="Calibri"/>
            </a:endParaRPr>
          </a:p>
        </p:txBody>
      </p:sp>
      <p:sp>
        <p:nvSpPr>
          <p:cNvPr id="26" name="Google Shape;26;p1"/>
          <p:cNvSpPr txBox="1"/>
          <p:nvPr/>
        </p:nvSpPr>
        <p:spPr>
          <a:xfrm>
            <a:off x="502920" y="6217920"/>
            <a:ext cx="3657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200"/>
              <a:buFont typeface="Arial"/>
              <a:buNone/>
            </a:pPr>
            <a:r>
              <a:rPr b="0" i="0" lang="en-US" u="none" cap="none" strike="noStrike">
                <a:solidFill>
                  <a:srgbClr val="000000"/>
                </a:solidFill>
                <a:latin typeface="Arial"/>
                <a:ea typeface="Arial"/>
                <a:cs typeface="Arial"/>
                <a:sym typeface="Arial"/>
              </a:rPr>
              <a:t>22 September 2026</a:t>
            </a:r>
            <a:endParaRPr b="0" i="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 name="Shape 31"/>
        <p:cNvGrpSpPr/>
        <p:nvPr/>
      </p:nvGrpSpPr>
      <p:grpSpPr>
        <a:xfrm>
          <a:off x="0" y="0"/>
          <a:ext cx="0" cy="0"/>
          <a:chOff x="0" y="0"/>
          <a:chExt cx="0" cy="0"/>
        </a:xfrm>
      </p:grpSpPr>
      <p:sp>
        <p:nvSpPr>
          <p:cNvPr id="32" name="Google Shape;32;p3"/>
          <p:cNvSpPr txBox="1"/>
          <p:nvPr/>
        </p:nvSpPr>
        <p:spPr>
          <a:xfrm>
            <a:off x="502920" y="365760"/>
            <a:ext cx="11183112"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800"/>
              <a:buFont typeface="Arial"/>
              <a:buNone/>
            </a:pPr>
            <a:r>
              <a:rPr lang="en-US" sz="2800"/>
              <a:t>Problem</a:t>
            </a:r>
            <a:endParaRPr b="0" i="0" sz="2800" u="none" cap="none" strike="noStrike">
              <a:solidFill>
                <a:schemeClr val="dk1"/>
              </a:solidFill>
              <a:latin typeface="Calibri"/>
              <a:ea typeface="Calibri"/>
              <a:cs typeface="Calibri"/>
              <a:sym typeface="Calibri"/>
            </a:endParaRPr>
          </a:p>
        </p:txBody>
      </p:sp>
      <p:sp>
        <p:nvSpPr>
          <p:cNvPr id="33" name="Google Shape;33;p3"/>
          <p:cNvSpPr txBox="1"/>
          <p:nvPr/>
        </p:nvSpPr>
        <p:spPr>
          <a:xfrm>
            <a:off x="3566160" y="6382512"/>
            <a:ext cx="7498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Examples taken from the hackathon brief; risk types based on Mitratech, Vendor Risk Assessment: The Definitive Guide (2026)</a:t>
            </a:r>
            <a:endParaRPr b="0" i="0" sz="800" u="none" cap="none" strike="noStrike">
              <a:solidFill>
                <a:schemeClr val="dk1"/>
              </a:solidFill>
              <a:latin typeface="Calibri"/>
              <a:ea typeface="Calibri"/>
              <a:cs typeface="Calibri"/>
              <a:sym typeface="Calibri"/>
            </a:endParaRPr>
          </a:p>
        </p:txBody>
      </p:sp>
      <p:sp>
        <p:nvSpPr>
          <p:cNvPr id="34" name="Google Shape;34;p3"/>
          <p:cNvSpPr txBox="1"/>
          <p:nvPr/>
        </p:nvSpPr>
        <p:spPr>
          <a:xfrm>
            <a:off x="502920" y="2103155"/>
            <a:ext cx="5577900" cy="3201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E60000"/>
              </a:buClr>
              <a:buSzPts val="1500"/>
              <a:buFont typeface="Arial"/>
              <a:buNone/>
            </a:pPr>
            <a:r>
              <a:rPr b="0" i="0" lang="en-US" sz="1800" u="none" cap="none" strike="noStrike">
                <a:solidFill>
                  <a:srgbClr val="E60000"/>
                </a:solidFill>
                <a:latin typeface="Arial"/>
                <a:ea typeface="Arial"/>
                <a:cs typeface="Arial"/>
                <a:sym typeface="Arial"/>
              </a:rPr>
              <a:t>The challenge</a:t>
            </a:r>
            <a:endParaRPr b="0" i="0" sz="1800" u="none" cap="none" strike="noStrike">
              <a:solidFill>
                <a:schemeClr val="dk1"/>
              </a:solidFill>
              <a:latin typeface="Calibri"/>
              <a:ea typeface="Calibri"/>
              <a:cs typeface="Calibri"/>
              <a:sym typeface="Calibri"/>
            </a:endParaRPr>
          </a:p>
        </p:txBody>
      </p:sp>
      <p:cxnSp>
        <p:nvCxnSpPr>
          <p:cNvPr id="35" name="Google Shape;35;p3"/>
          <p:cNvCxnSpPr/>
          <p:nvPr/>
        </p:nvCxnSpPr>
        <p:spPr>
          <a:xfrm>
            <a:off x="502920" y="2487203"/>
            <a:ext cx="5577900" cy="0"/>
          </a:xfrm>
          <a:prstGeom prst="straightConnector1">
            <a:avLst/>
          </a:prstGeom>
          <a:noFill/>
          <a:ln cap="flat" cmpd="sng" w="9525">
            <a:solidFill>
              <a:srgbClr val="BFBFBF"/>
            </a:solidFill>
            <a:prstDash val="solid"/>
            <a:round/>
            <a:headEnd len="sm" w="sm" type="none"/>
            <a:tailEnd len="sm" w="sm" type="none"/>
          </a:ln>
        </p:spPr>
      </p:cxnSp>
      <p:sp>
        <p:nvSpPr>
          <p:cNvPr id="36" name="Google Shape;36;p3"/>
          <p:cNvSpPr txBox="1"/>
          <p:nvPr/>
        </p:nvSpPr>
        <p:spPr>
          <a:xfrm>
            <a:off x="502920" y="2651795"/>
            <a:ext cx="5577900" cy="1097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400"/>
              <a:buFont typeface="Arial"/>
              <a:buNone/>
            </a:pPr>
            <a:r>
              <a:rPr b="0" i="0" lang="en-US" sz="1600" u="none" cap="none" strike="noStrike">
                <a:solidFill>
                  <a:srgbClr val="000000"/>
                </a:solidFill>
                <a:latin typeface="Arial"/>
                <a:ea typeface="Arial"/>
                <a:cs typeface="Arial"/>
                <a:sym typeface="Arial"/>
              </a:rPr>
              <a:t>Cyber incidents, negative news and fraud signals about vendors appear first in public sources. Periodic vendor assessments miss what happens in between, and scanning the news by hand does not scale.</a:t>
            </a:r>
            <a:endParaRPr b="0" i="0" sz="1600" u="none" cap="none" strike="noStrike">
              <a:solidFill>
                <a:schemeClr val="dk1"/>
              </a:solidFill>
              <a:latin typeface="Calibri"/>
              <a:ea typeface="Calibri"/>
              <a:cs typeface="Calibri"/>
              <a:sym typeface="Calibri"/>
            </a:endParaRPr>
          </a:p>
        </p:txBody>
      </p:sp>
      <p:sp>
        <p:nvSpPr>
          <p:cNvPr id="37" name="Google Shape;37;p3"/>
          <p:cNvSpPr txBox="1"/>
          <p:nvPr/>
        </p:nvSpPr>
        <p:spPr>
          <a:xfrm>
            <a:off x="502920" y="3794795"/>
            <a:ext cx="5577900" cy="32010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E60000"/>
              </a:buClr>
              <a:buSzPts val="1500"/>
              <a:buFont typeface="Arial"/>
              <a:buNone/>
            </a:pPr>
            <a:r>
              <a:rPr b="0" i="0" lang="en-US" sz="1800" u="none" cap="none" strike="noStrike">
                <a:solidFill>
                  <a:srgbClr val="E60000"/>
                </a:solidFill>
                <a:latin typeface="Arial"/>
                <a:ea typeface="Arial"/>
                <a:cs typeface="Arial"/>
                <a:sym typeface="Arial"/>
              </a:rPr>
              <a:t>Who it is for</a:t>
            </a:r>
            <a:endParaRPr b="0" i="0" sz="1800" u="none" cap="none" strike="noStrike">
              <a:solidFill>
                <a:schemeClr val="dk1"/>
              </a:solidFill>
              <a:latin typeface="Calibri"/>
              <a:ea typeface="Calibri"/>
              <a:cs typeface="Calibri"/>
              <a:sym typeface="Calibri"/>
            </a:endParaRPr>
          </a:p>
        </p:txBody>
      </p:sp>
      <p:cxnSp>
        <p:nvCxnSpPr>
          <p:cNvPr id="38" name="Google Shape;38;p3"/>
          <p:cNvCxnSpPr/>
          <p:nvPr/>
        </p:nvCxnSpPr>
        <p:spPr>
          <a:xfrm>
            <a:off x="502920" y="4178843"/>
            <a:ext cx="5577900" cy="0"/>
          </a:xfrm>
          <a:prstGeom prst="straightConnector1">
            <a:avLst/>
          </a:prstGeom>
          <a:noFill/>
          <a:ln cap="flat" cmpd="sng" w="9525">
            <a:solidFill>
              <a:srgbClr val="BFBFBF"/>
            </a:solidFill>
            <a:prstDash val="solid"/>
            <a:round/>
            <a:headEnd len="sm" w="sm" type="none"/>
            <a:tailEnd len="sm" w="sm" type="none"/>
          </a:ln>
        </p:spPr>
      </p:cxnSp>
      <p:sp>
        <p:nvSpPr>
          <p:cNvPr id="39" name="Google Shape;39;p3"/>
          <p:cNvSpPr txBox="1"/>
          <p:nvPr/>
        </p:nvSpPr>
        <p:spPr>
          <a:xfrm>
            <a:off x="502920" y="4343435"/>
            <a:ext cx="5577900" cy="8229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400"/>
              <a:buFont typeface="Arial"/>
              <a:buNone/>
            </a:pPr>
            <a:r>
              <a:rPr b="0" i="0" lang="en-US" sz="1600" u="none" cap="none" strike="noStrike">
                <a:solidFill>
                  <a:srgbClr val="000000"/>
                </a:solidFill>
                <a:latin typeface="Arial"/>
                <a:ea typeface="Arial"/>
                <a:cs typeface="Arial"/>
                <a:sym typeface="Arial"/>
              </a:rPr>
              <a:t>Third-party risk and procurement teams who monitor many vendors and need to know which signals deserve attention today.</a:t>
            </a:r>
            <a:endParaRPr b="0" i="0" sz="1600" u="none" cap="none" strike="noStrike">
              <a:solidFill>
                <a:schemeClr val="dk1"/>
              </a:solidFill>
              <a:latin typeface="Calibri"/>
              <a:ea typeface="Calibri"/>
              <a:cs typeface="Calibri"/>
              <a:sym typeface="Calibri"/>
            </a:endParaRPr>
          </a:p>
        </p:txBody>
      </p:sp>
      <p:sp>
        <p:nvSpPr>
          <p:cNvPr id="40" name="Google Shape;40;p3"/>
          <p:cNvSpPr/>
          <p:nvPr/>
        </p:nvSpPr>
        <p:spPr>
          <a:xfrm>
            <a:off x="6583680" y="1371600"/>
            <a:ext cx="5102352" cy="4526280"/>
          </a:xfrm>
          <a:prstGeom prst="rect">
            <a:avLst/>
          </a:prstGeom>
          <a:solidFill>
            <a:srgbClr val="ECEBE4"/>
          </a:solidFill>
          <a:ln cap="flat" cmpd="sng" w="12700">
            <a:solidFill>
              <a:srgbClr val="ECEB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txBox="1"/>
          <p:nvPr/>
        </p:nvSpPr>
        <p:spPr>
          <a:xfrm>
            <a:off x="6858000" y="1554480"/>
            <a:ext cx="45720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0000"/>
              </a:buClr>
              <a:buSzPts val="1600"/>
              <a:buFont typeface="Arial"/>
              <a:buNone/>
            </a:pPr>
            <a:r>
              <a:rPr b="0" i="0" lang="en-US" sz="1800" u="none" cap="none" strike="noStrike">
                <a:solidFill>
                  <a:srgbClr val="E60000"/>
                </a:solidFill>
                <a:latin typeface="Arial"/>
                <a:ea typeface="Arial"/>
                <a:cs typeface="Arial"/>
                <a:sym typeface="Arial"/>
              </a:rPr>
              <a:t>What an analyst needs to see</a:t>
            </a:r>
            <a:endParaRPr b="0" i="0" sz="1800" u="none" cap="none" strike="noStrike">
              <a:solidFill>
                <a:schemeClr val="dk1"/>
              </a:solidFill>
              <a:latin typeface="Calibri"/>
              <a:ea typeface="Calibri"/>
              <a:cs typeface="Calibri"/>
              <a:sym typeface="Calibri"/>
            </a:endParaRPr>
          </a:p>
        </p:txBody>
      </p:sp>
      <p:sp>
        <p:nvSpPr>
          <p:cNvPr id="42" name="Google Shape;42;p3"/>
          <p:cNvSpPr/>
          <p:nvPr/>
        </p:nvSpPr>
        <p:spPr>
          <a:xfrm>
            <a:off x="6858000" y="2148840"/>
            <a:ext cx="4553712" cy="960120"/>
          </a:xfrm>
          <a:prstGeom prst="rect">
            <a:avLst/>
          </a:prstGeom>
          <a:solidFill>
            <a:srgbClr val="FFFFFF"/>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3"/>
          <p:cNvSpPr txBox="1"/>
          <p:nvPr/>
        </p:nvSpPr>
        <p:spPr>
          <a:xfrm>
            <a:off x="7040880" y="2148840"/>
            <a:ext cx="420624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400"/>
              <a:buFont typeface="Arial"/>
              <a:buNone/>
            </a:pPr>
            <a:r>
              <a:rPr b="0" i="0" lang="en-US" sz="1600" u="none" cap="none" strike="noStrike">
                <a:solidFill>
                  <a:srgbClr val="000000"/>
                </a:solidFill>
                <a:latin typeface="Arial"/>
                <a:ea typeface="Arial"/>
                <a:cs typeface="Arial"/>
                <a:sym typeface="Arial"/>
              </a:rPr>
              <a:t>“Vendor X mentioned in a breach discussion”</a:t>
            </a:r>
            <a:endParaRPr b="0" i="0" sz="1600" u="none" cap="none" strike="noStrike">
              <a:solidFill>
                <a:schemeClr val="dk1"/>
              </a:solidFill>
              <a:latin typeface="Calibri"/>
              <a:ea typeface="Calibri"/>
              <a:cs typeface="Calibri"/>
              <a:sym typeface="Calibri"/>
            </a:endParaRPr>
          </a:p>
        </p:txBody>
      </p:sp>
      <p:sp>
        <p:nvSpPr>
          <p:cNvPr id="44" name="Google Shape;44;p3"/>
          <p:cNvSpPr/>
          <p:nvPr/>
        </p:nvSpPr>
        <p:spPr>
          <a:xfrm>
            <a:off x="6858000" y="3337560"/>
            <a:ext cx="4553712" cy="960120"/>
          </a:xfrm>
          <a:prstGeom prst="rect">
            <a:avLst/>
          </a:prstGeom>
          <a:solidFill>
            <a:srgbClr val="FFFFFF"/>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txBox="1"/>
          <p:nvPr/>
        </p:nvSpPr>
        <p:spPr>
          <a:xfrm>
            <a:off x="7040880" y="3337560"/>
            <a:ext cx="420624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400"/>
              <a:buFont typeface="Arial"/>
              <a:buNone/>
            </a:pPr>
            <a:r>
              <a:rPr b="0" i="0" lang="en-US" sz="1600" u="none" cap="none" strike="noStrike">
                <a:solidFill>
                  <a:srgbClr val="000000"/>
                </a:solidFill>
                <a:latin typeface="Arial"/>
                <a:ea typeface="Arial"/>
                <a:cs typeface="Arial"/>
                <a:sym typeface="Arial"/>
              </a:rPr>
              <a:t>“Sentiment risk increasing for partner Y”</a:t>
            </a:r>
            <a:endParaRPr b="0" i="0" sz="1600" u="none" cap="none" strike="noStrike">
              <a:solidFill>
                <a:schemeClr val="dk1"/>
              </a:solidFill>
              <a:latin typeface="Calibri"/>
              <a:ea typeface="Calibri"/>
              <a:cs typeface="Calibri"/>
              <a:sym typeface="Calibri"/>
            </a:endParaRPr>
          </a:p>
        </p:txBody>
      </p:sp>
      <p:sp>
        <p:nvSpPr>
          <p:cNvPr id="46" name="Google Shape;46;p3"/>
          <p:cNvSpPr/>
          <p:nvPr/>
        </p:nvSpPr>
        <p:spPr>
          <a:xfrm>
            <a:off x="6858000" y="4526280"/>
            <a:ext cx="4553712" cy="960120"/>
          </a:xfrm>
          <a:prstGeom prst="rect">
            <a:avLst/>
          </a:prstGeom>
          <a:solidFill>
            <a:srgbClr val="FFFFFF"/>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3"/>
          <p:cNvSpPr txBox="1"/>
          <p:nvPr/>
        </p:nvSpPr>
        <p:spPr>
          <a:xfrm>
            <a:off x="7040880" y="4526280"/>
            <a:ext cx="4206240" cy="9601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1400"/>
              <a:buFont typeface="Arial"/>
              <a:buNone/>
            </a:pPr>
            <a:r>
              <a:rPr b="0" i="0" lang="en-US" sz="1600" u="none" cap="none" strike="noStrike">
                <a:solidFill>
                  <a:srgbClr val="000000"/>
                </a:solidFill>
                <a:latin typeface="Arial"/>
                <a:ea typeface="Arial"/>
                <a:cs typeface="Arial"/>
                <a:sym typeface="Arial"/>
              </a:rPr>
              <a:t>A risk score, a short explanation of why it was flagged, and the evidence behind it</a:t>
            </a:r>
            <a:endParaRPr b="0" i="0" sz="1600" u="none" cap="none" strike="noStrike">
              <a:solidFill>
                <a:schemeClr val="dk1"/>
              </a:solidFill>
              <a:latin typeface="Calibri"/>
              <a:ea typeface="Calibri"/>
              <a:cs typeface="Calibri"/>
              <a:sym typeface="Calibri"/>
            </a:endParaRPr>
          </a:p>
        </p:txBody>
      </p:sp>
      <p:sp>
        <p:nvSpPr>
          <p:cNvPr id="48" name="Google Shape;48;p3"/>
          <p:cNvSpPr txBox="1"/>
          <p:nvPr>
            <p:ph idx="4294967295" type="sldNum"/>
          </p:nvPr>
        </p:nvSpPr>
        <p:spPr>
          <a:xfrm>
            <a:off x="11247120" y="6400800"/>
            <a:ext cx="4389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800" u="none" cap="none" strike="noStrike">
                <a:solidFill>
                  <a:srgbClr val="7F7F7F"/>
                </a:solidFill>
                <a:latin typeface="Arial"/>
                <a:ea typeface="Arial"/>
                <a:cs typeface="Arial"/>
                <a:sym typeface="Arial"/>
              </a:rPr>
              <a:t>‹#›</a:t>
            </a:fld>
            <a:endParaRPr b="0" i="0" sz="800" u="none" cap="none" strike="noStrike">
              <a:solidFill>
                <a:srgbClr val="7F7F7F"/>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4"/>
          <p:cNvSpPr txBox="1"/>
          <p:nvPr/>
        </p:nvSpPr>
        <p:spPr>
          <a:xfrm>
            <a:off x="502920" y="365760"/>
            <a:ext cx="11183112"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Our prototype turns public noise into an explained, owned action</a:t>
            </a:r>
            <a:endParaRPr b="0" i="0" sz="2800" u="none" cap="none" strike="noStrike">
              <a:solidFill>
                <a:schemeClr val="dk1"/>
              </a:solidFill>
              <a:latin typeface="Calibri"/>
              <a:ea typeface="Calibri"/>
              <a:cs typeface="Calibri"/>
              <a:sym typeface="Calibri"/>
            </a:endParaRPr>
          </a:p>
        </p:txBody>
      </p:sp>
      <p:sp>
        <p:nvSpPr>
          <p:cNvPr id="55" name="Google Shape;55;p4"/>
          <p:cNvSpPr/>
          <p:nvPr/>
        </p:nvSpPr>
        <p:spPr>
          <a:xfrm>
            <a:off x="502920" y="1417320"/>
            <a:ext cx="1645920" cy="2057400"/>
          </a:xfrm>
          <a:prstGeom prst="rect">
            <a:avLst/>
          </a:prstGeom>
          <a:solidFill>
            <a:srgbClr val="FFFFFF"/>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4"/>
          <p:cNvSpPr txBox="1"/>
          <p:nvPr/>
        </p:nvSpPr>
        <p:spPr>
          <a:xfrm>
            <a:off x="640080" y="1527048"/>
            <a:ext cx="9144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CCABC"/>
              </a:buClr>
              <a:buSzPts val="2800"/>
              <a:buFont typeface="Arial"/>
              <a:buNone/>
            </a:pPr>
            <a:r>
              <a:rPr b="1" i="0" lang="en-US" sz="2800" u="none" cap="none" strike="noStrike">
                <a:solidFill>
                  <a:srgbClr val="CCCABC"/>
                </a:solidFill>
                <a:latin typeface="Arial"/>
                <a:ea typeface="Arial"/>
                <a:cs typeface="Arial"/>
                <a:sym typeface="Arial"/>
              </a:rPr>
              <a:t>1</a:t>
            </a:r>
            <a:endParaRPr b="0" i="0" sz="2800" u="none" cap="none" strike="noStrike">
              <a:solidFill>
                <a:schemeClr val="dk1"/>
              </a:solidFill>
              <a:latin typeface="Calibri"/>
              <a:ea typeface="Calibri"/>
              <a:cs typeface="Calibri"/>
              <a:sym typeface="Calibri"/>
            </a:endParaRPr>
          </a:p>
        </p:txBody>
      </p:sp>
      <p:sp>
        <p:nvSpPr>
          <p:cNvPr id="57" name="Google Shape;57;p4"/>
          <p:cNvSpPr txBox="1"/>
          <p:nvPr/>
        </p:nvSpPr>
        <p:spPr>
          <a:xfrm>
            <a:off x="640080" y="2075688"/>
            <a:ext cx="137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Collect</a:t>
            </a:r>
            <a:endParaRPr b="0" i="0" sz="1500" u="none" cap="none" strike="noStrike">
              <a:solidFill>
                <a:schemeClr val="dk1"/>
              </a:solidFill>
              <a:latin typeface="Calibri"/>
              <a:ea typeface="Calibri"/>
              <a:cs typeface="Calibri"/>
              <a:sym typeface="Calibri"/>
            </a:endParaRPr>
          </a:p>
        </p:txBody>
      </p:sp>
      <p:sp>
        <p:nvSpPr>
          <p:cNvPr id="58" name="Google Shape;58;p4"/>
          <p:cNvSpPr txBox="1"/>
          <p:nvPr/>
        </p:nvSpPr>
        <p:spPr>
          <a:xfrm>
            <a:off x="640080" y="2468880"/>
            <a:ext cx="13716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100"/>
              <a:buFont typeface="Arial"/>
              <a:buNone/>
            </a:pPr>
            <a:r>
              <a:rPr b="0" i="0" lang="en-US" sz="1200" u="none" cap="none" strike="noStrike">
                <a:solidFill>
                  <a:srgbClr val="000000"/>
                </a:solidFill>
                <a:latin typeface="Arial"/>
                <a:ea typeface="Arial"/>
                <a:cs typeface="Arial"/>
                <a:sym typeface="Arial"/>
              </a:rPr>
              <a:t>Fictional news and advisories per vendor</a:t>
            </a:r>
            <a:endParaRPr b="0" i="0" sz="1200" u="none" cap="none" strike="noStrike">
              <a:solidFill>
                <a:schemeClr val="dk1"/>
              </a:solidFill>
              <a:latin typeface="Calibri"/>
              <a:ea typeface="Calibri"/>
              <a:cs typeface="Calibri"/>
              <a:sym typeface="Calibri"/>
            </a:endParaRPr>
          </a:p>
        </p:txBody>
      </p:sp>
      <p:cxnSp>
        <p:nvCxnSpPr>
          <p:cNvPr id="59" name="Google Shape;59;p4"/>
          <p:cNvCxnSpPr/>
          <p:nvPr/>
        </p:nvCxnSpPr>
        <p:spPr>
          <a:xfrm>
            <a:off x="2185416" y="2446020"/>
            <a:ext cx="182880" cy="0"/>
          </a:xfrm>
          <a:prstGeom prst="straightConnector1">
            <a:avLst/>
          </a:prstGeom>
          <a:noFill/>
          <a:ln cap="flat" cmpd="sng" w="15875">
            <a:solidFill>
              <a:srgbClr val="7F7F7F"/>
            </a:solidFill>
            <a:prstDash val="solid"/>
            <a:round/>
            <a:headEnd len="sm" w="sm" type="none"/>
            <a:tailEnd len="med" w="med" type="triangle"/>
          </a:ln>
        </p:spPr>
      </p:cxnSp>
      <p:sp>
        <p:nvSpPr>
          <p:cNvPr id="60" name="Google Shape;60;p4"/>
          <p:cNvSpPr/>
          <p:nvPr/>
        </p:nvSpPr>
        <p:spPr>
          <a:xfrm>
            <a:off x="2404872" y="1417320"/>
            <a:ext cx="1645920" cy="2057400"/>
          </a:xfrm>
          <a:prstGeom prst="rect">
            <a:avLst/>
          </a:prstGeom>
          <a:solidFill>
            <a:srgbClr val="FFFFFF"/>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4"/>
          <p:cNvSpPr txBox="1"/>
          <p:nvPr/>
        </p:nvSpPr>
        <p:spPr>
          <a:xfrm>
            <a:off x="2542032" y="1527048"/>
            <a:ext cx="9144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CCABC"/>
              </a:buClr>
              <a:buSzPts val="2800"/>
              <a:buFont typeface="Arial"/>
              <a:buNone/>
            </a:pPr>
            <a:r>
              <a:rPr b="1" i="0" lang="en-US" sz="2800" u="none" cap="none" strike="noStrike">
                <a:solidFill>
                  <a:srgbClr val="CCCABC"/>
                </a:solidFill>
                <a:latin typeface="Arial"/>
                <a:ea typeface="Arial"/>
                <a:cs typeface="Arial"/>
                <a:sym typeface="Arial"/>
              </a:rPr>
              <a:t>2</a:t>
            </a:r>
            <a:endParaRPr b="0" i="0" sz="2800" u="none" cap="none" strike="noStrike">
              <a:solidFill>
                <a:schemeClr val="dk1"/>
              </a:solidFill>
              <a:latin typeface="Calibri"/>
              <a:ea typeface="Calibri"/>
              <a:cs typeface="Calibri"/>
              <a:sym typeface="Calibri"/>
            </a:endParaRPr>
          </a:p>
        </p:txBody>
      </p:sp>
      <p:sp>
        <p:nvSpPr>
          <p:cNvPr id="62" name="Google Shape;62;p4"/>
          <p:cNvSpPr txBox="1"/>
          <p:nvPr/>
        </p:nvSpPr>
        <p:spPr>
          <a:xfrm>
            <a:off x="2542032" y="2075688"/>
            <a:ext cx="137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Normalise</a:t>
            </a:r>
            <a:endParaRPr b="0" i="0" sz="1500" u="none" cap="none" strike="noStrike">
              <a:solidFill>
                <a:schemeClr val="dk1"/>
              </a:solidFill>
              <a:latin typeface="Calibri"/>
              <a:ea typeface="Calibri"/>
              <a:cs typeface="Calibri"/>
              <a:sym typeface="Calibri"/>
            </a:endParaRPr>
          </a:p>
        </p:txBody>
      </p:sp>
      <p:sp>
        <p:nvSpPr>
          <p:cNvPr id="63" name="Google Shape;63;p4"/>
          <p:cNvSpPr txBox="1"/>
          <p:nvPr/>
        </p:nvSpPr>
        <p:spPr>
          <a:xfrm>
            <a:off x="2542032" y="2468880"/>
            <a:ext cx="13716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100"/>
              <a:buFont typeface="Arial"/>
              <a:buNone/>
            </a:pPr>
            <a:r>
              <a:rPr b="0" i="0" lang="en-US" sz="1200" u="none" cap="none" strike="noStrike">
                <a:solidFill>
                  <a:srgbClr val="000000"/>
                </a:solidFill>
                <a:latin typeface="Arial"/>
                <a:ea typeface="Arial"/>
                <a:cs typeface="Arial"/>
                <a:sym typeface="Arial"/>
              </a:rPr>
              <a:t>Clean text, dates and sources; match vendor names</a:t>
            </a:r>
            <a:endParaRPr b="0" i="0" sz="1200" u="none" cap="none" strike="noStrike">
              <a:solidFill>
                <a:schemeClr val="dk1"/>
              </a:solidFill>
              <a:latin typeface="Calibri"/>
              <a:ea typeface="Calibri"/>
              <a:cs typeface="Calibri"/>
              <a:sym typeface="Calibri"/>
            </a:endParaRPr>
          </a:p>
        </p:txBody>
      </p:sp>
      <p:cxnSp>
        <p:nvCxnSpPr>
          <p:cNvPr id="64" name="Google Shape;64;p4"/>
          <p:cNvCxnSpPr/>
          <p:nvPr/>
        </p:nvCxnSpPr>
        <p:spPr>
          <a:xfrm>
            <a:off x="4087368" y="2446020"/>
            <a:ext cx="182880" cy="0"/>
          </a:xfrm>
          <a:prstGeom prst="straightConnector1">
            <a:avLst/>
          </a:prstGeom>
          <a:noFill/>
          <a:ln cap="flat" cmpd="sng" w="15875">
            <a:solidFill>
              <a:srgbClr val="7F7F7F"/>
            </a:solidFill>
            <a:prstDash val="solid"/>
            <a:round/>
            <a:headEnd len="sm" w="sm" type="none"/>
            <a:tailEnd len="med" w="med" type="triangle"/>
          </a:ln>
        </p:spPr>
      </p:cxnSp>
      <p:sp>
        <p:nvSpPr>
          <p:cNvPr id="65" name="Google Shape;65;p4"/>
          <p:cNvSpPr/>
          <p:nvPr/>
        </p:nvSpPr>
        <p:spPr>
          <a:xfrm>
            <a:off x="4306824" y="1417320"/>
            <a:ext cx="1645920" cy="2057400"/>
          </a:xfrm>
          <a:prstGeom prst="rect">
            <a:avLst/>
          </a:prstGeom>
          <a:solidFill>
            <a:srgbClr val="FFFFFF"/>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4"/>
          <p:cNvSpPr txBox="1"/>
          <p:nvPr/>
        </p:nvSpPr>
        <p:spPr>
          <a:xfrm>
            <a:off x="4443984" y="1527048"/>
            <a:ext cx="9144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CCABC"/>
              </a:buClr>
              <a:buSzPts val="2800"/>
              <a:buFont typeface="Arial"/>
              <a:buNone/>
            </a:pPr>
            <a:r>
              <a:rPr b="1" i="0" lang="en-US" sz="2800" u="none" cap="none" strike="noStrike">
                <a:solidFill>
                  <a:srgbClr val="CCCABC"/>
                </a:solidFill>
                <a:latin typeface="Arial"/>
                <a:ea typeface="Arial"/>
                <a:cs typeface="Arial"/>
                <a:sym typeface="Arial"/>
              </a:rPr>
              <a:t>3</a:t>
            </a:r>
            <a:endParaRPr b="0" i="0" sz="2800" u="none" cap="none" strike="noStrike">
              <a:solidFill>
                <a:schemeClr val="dk1"/>
              </a:solidFill>
              <a:latin typeface="Calibri"/>
              <a:ea typeface="Calibri"/>
              <a:cs typeface="Calibri"/>
              <a:sym typeface="Calibri"/>
            </a:endParaRPr>
          </a:p>
        </p:txBody>
      </p:sp>
      <p:sp>
        <p:nvSpPr>
          <p:cNvPr id="67" name="Google Shape;67;p4"/>
          <p:cNvSpPr txBox="1"/>
          <p:nvPr/>
        </p:nvSpPr>
        <p:spPr>
          <a:xfrm>
            <a:off x="4443984" y="2075688"/>
            <a:ext cx="137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lang="en-US" sz="1500"/>
              <a:t>Classify</a:t>
            </a:r>
            <a:endParaRPr b="0" i="0" sz="1500" u="none" cap="none" strike="noStrike">
              <a:solidFill>
                <a:schemeClr val="dk1"/>
              </a:solidFill>
              <a:latin typeface="Calibri"/>
              <a:ea typeface="Calibri"/>
              <a:cs typeface="Calibri"/>
              <a:sym typeface="Calibri"/>
            </a:endParaRPr>
          </a:p>
        </p:txBody>
      </p:sp>
      <p:sp>
        <p:nvSpPr>
          <p:cNvPr id="68" name="Google Shape;68;p4"/>
          <p:cNvSpPr txBox="1"/>
          <p:nvPr/>
        </p:nvSpPr>
        <p:spPr>
          <a:xfrm>
            <a:off x="4443984" y="2468880"/>
            <a:ext cx="13716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100"/>
              <a:buFont typeface="Arial"/>
              <a:buNone/>
            </a:pPr>
            <a:r>
              <a:rPr lang="en-US" sz="1200"/>
              <a:t>Compliance, Conduct, Cyber, Financial, Operational, Others</a:t>
            </a:r>
            <a:endParaRPr b="0" i="0" sz="1200" u="none" cap="none" strike="noStrike">
              <a:solidFill>
                <a:schemeClr val="dk1"/>
              </a:solidFill>
              <a:latin typeface="Calibri"/>
              <a:ea typeface="Calibri"/>
              <a:cs typeface="Calibri"/>
              <a:sym typeface="Calibri"/>
            </a:endParaRPr>
          </a:p>
        </p:txBody>
      </p:sp>
      <p:cxnSp>
        <p:nvCxnSpPr>
          <p:cNvPr id="69" name="Google Shape;69;p4"/>
          <p:cNvCxnSpPr/>
          <p:nvPr/>
        </p:nvCxnSpPr>
        <p:spPr>
          <a:xfrm>
            <a:off x="5989320" y="2446020"/>
            <a:ext cx="182880" cy="0"/>
          </a:xfrm>
          <a:prstGeom prst="straightConnector1">
            <a:avLst/>
          </a:prstGeom>
          <a:noFill/>
          <a:ln cap="flat" cmpd="sng" w="15875">
            <a:solidFill>
              <a:srgbClr val="7F7F7F"/>
            </a:solidFill>
            <a:prstDash val="solid"/>
            <a:round/>
            <a:headEnd len="sm" w="sm" type="none"/>
            <a:tailEnd len="med" w="med" type="triangle"/>
          </a:ln>
        </p:spPr>
      </p:cxnSp>
      <p:sp>
        <p:nvSpPr>
          <p:cNvPr id="70" name="Google Shape;70;p4"/>
          <p:cNvSpPr/>
          <p:nvPr/>
        </p:nvSpPr>
        <p:spPr>
          <a:xfrm>
            <a:off x="6208776" y="1417320"/>
            <a:ext cx="1645920" cy="2057400"/>
          </a:xfrm>
          <a:prstGeom prst="rect">
            <a:avLst/>
          </a:prstGeom>
          <a:solidFill>
            <a:srgbClr val="5A5D5C"/>
          </a:solidFill>
          <a:ln cap="flat" cmpd="sng" w="9525">
            <a:solidFill>
              <a:srgbClr val="5A5D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4"/>
          <p:cNvSpPr txBox="1"/>
          <p:nvPr/>
        </p:nvSpPr>
        <p:spPr>
          <a:xfrm>
            <a:off x="6345936" y="1527048"/>
            <a:ext cx="9144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4</a:t>
            </a:r>
            <a:endParaRPr b="0" i="0" sz="2800" u="none" cap="none" strike="noStrike">
              <a:solidFill>
                <a:schemeClr val="dk1"/>
              </a:solidFill>
              <a:latin typeface="Calibri"/>
              <a:ea typeface="Calibri"/>
              <a:cs typeface="Calibri"/>
              <a:sym typeface="Calibri"/>
            </a:endParaRPr>
          </a:p>
        </p:txBody>
      </p:sp>
      <p:sp>
        <p:nvSpPr>
          <p:cNvPr id="72" name="Google Shape;72;p4"/>
          <p:cNvSpPr txBox="1"/>
          <p:nvPr/>
        </p:nvSpPr>
        <p:spPr>
          <a:xfrm>
            <a:off x="6345936" y="2075688"/>
            <a:ext cx="137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Score</a:t>
            </a:r>
            <a:endParaRPr b="0" i="0" sz="1500" u="none" cap="none" strike="noStrike">
              <a:solidFill>
                <a:schemeClr val="dk1"/>
              </a:solidFill>
              <a:latin typeface="Calibri"/>
              <a:ea typeface="Calibri"/>
              <a:cs typeface="Calibri"/>
              <a:sym typeface="Calibri"/>
            </a:endParaRPr>
          </a:p>
        </p:txBody>
      </p:sp>
      <p:sp>
        <p:nvSpPr>
          <p:cNvPr id="73" name="Google Shape;73;p4"/>
          <p:cNvSpPr txBox="1"/>
          <p:nvPr/>
        </p:nvSpPr>
        <p:spPr>
          <a:xfrm>
            <a:off x="6345936" y="2468880"/>
            <a:ext cx="13716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00"/>
              <a:buFont typeface="Arial"/>
              <a:buNone/>
            </a:pPr>
            <a:r>
              <a:rPr b="0" i="0" lang="en-US" sz="1200" u="none" cap="none" strike="noStrike">
                <a:solidFill>
                  <a:srgbClr val="FFFFFF"/>
                </a:solidFill>
                <a:latin typeface="Arial"/>
                <a:ea typeface="Arial"/>
                <a:cs typeface="Arial"/>
                <a:sym typeface="Arial"/>
              </a:rPr>
              <a:t>Likelihood × Impact, reduced by vendor controls</a:t>
            </a:r>
            <a:endParaRPr b="0" i="0" sz="1200" u="none" cap="none" strike="noStrike">
              <a:solidFill>
                <a:schemeClr val="dk1"/>
              </a:solidFill>
              <a:latin typeface="Calibri"/>
              <a:ea typeface="Calibri"/>
              <a:cs typeface="Calibri"/>
              <a:sym typeface="Calibri"/>
            </a:endParaRPr>
          </a:p>
        </p:txBody>
      </p:sp>
      <p:cxnSp>
        <p:nvCxnSpPr>
          <p:cNvPr id="74" name="Google Shape;74;p4"/>
          <p:cNvCxnSpPr/>
          <p:nvPr/>
        </p:nvCxnSpPr>
        <p:spPr>
          <a:xfrm>
            <a:off x="7891272" y="2446020"/>
            <a:ext cx="182880" cy="0"/>
          </a:xfrm>
          <a:prstGeom prst="straightConnector1">
            <a:avLst/>
          </a:prstGeom>
          <a:noFill/>
          <a:ln cap="flat" cmpd="sng" w="15875">
            <a:solidFill>
              <a:srgbClr val="7F7F7F"/>
            </a:solidFill>
            <a:prstDash val="solid"/>
            <a:round/>
            <a:headEnd len="sm" w="sm" type="none"/>
            <a:tailEnd len="med" w="med" type="triangle"/>
          </a:ln>
        </p:spPr>
      </p:cxnSp>
      <p:sp>
        <p:nvSpPr>
          <p:cNvPr id="75" name="Google Shape;75;p4"/>
          <p:cNvSpPr/>
          <p:nvPr/>
        </p:nvSpPr>
        <p:spPr>
          <a:xfrm>
            <a:off x="8110728" y="1417320"/>
            <a:ext cx="1645920" cy="2057400"/>
          </a:xfrm>
          <a:prstGeom prst="rect">
            <a:avLst/>
          </a:prstGeom>
          <a:solidFill>
            <a:srgbClr val="5A5D5C"/>
          </a:solidFill>
          <a:ln cap="flat" cmpd="sng" w="9525">
            <a:solidFill>
              <a:srgbClr val="5A5D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
          <p:cNvSpPr txBox="1"/>
          <p:nvPr/>
        </p:nvSpPr>
        <p:spPr>
          <a:xfrm>
            <a:off x="8247888" y="1527048"/>
            <a:ext cx="9144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2800"/>
              <a:buFont typeface="Arial"/>
              <a:buNone/>
            </a:pPr>
            <a:r>
              <a:rPr b="1" i="0" lang="en-US" sz="2800" u="none" cap="none" strike="noStrike">
                <a:solidFill>
                  <a:srgbClr val="FFFFFF"/>
                </a:solidFill>
                <a:latin typeface="Arial"/>
                <a:ea typeface="Arial"/>
                <a:cs typeface="Arial"/>
                <a:sym typeface="Arial"/>
              </a:rPr>
              <a:t>5</a:t>
            </a:r>
            <a:endParaRPr b="0" i="0" sz="2800" u="none" cap="none" strike="noStrike">
              <a:solidFill>
                <a:schemeClr val="dk1"/>
              </a:solidFill>
              <a:latin typeface="Calibri"/>
              <a:ea typeface="Calibri"/>
              <a:cs typeface="Calibri"/>
              <a:sym typeface="Calibri"/>
            </a:endParaRPr>
          </a:p>
        </p:txBody>
      </p:sp>
      <p:sp>
        <p:nvSpPr>
          <p:cNvPr id="77" name="Google Shape;77;p4"/>
          <p:cNvSpPr txBox="1"/>
          <p:nvPr/>
        </p:nvSpPr>
        <p:spPr>
          <a:xfrm>
            <a:off x="8247888" y="2075688"/>
            <a:ext cx="137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500"/>
              <a:buFont typeface="Arial"/>
              <a:buNone/>
            </a:pPr>
            <a:r>
              <a:rPr b="1" i="0" lang="en-US" sz="1500" u="none" cap="none" strike="noStrike">
                <a:solidFill>
                  <a:srgbClr val="FFFFFF"/>
                </a:solidFill>
                <a:latin typeface="Arial"/>
                <a:ea typeface="Arial"/>
                <a:cs typeface="Arial"/>
                <a:sym typeface="Arial"/>
              </a:rPr>
              <a:t>Tier &amp; route</a:t>
            </a:r>
            <a:endParaRPr b="0" i="0" sz="1500" u="none" cap="none" strike="noStrike">
              <a:solidFill>
                <a:schemeClr val="dk1"/>
              </a:solidFill>
              <a:latin typeface="Calibri"/>
              <a:ea typeface="Calibri"/>
              <a:cs typeface="Calibri"/>
              <a:sym typeface="Calibri"/>
            </a:endParaRPr>
          </a:p>
        </p:txBody>
      </p:sp>
      <p:sp>
        <p:nvSpPr>
          <p:cNvPr id="78" name="Google Shape;78;p4"/>
          <p:cNvSpPr txBox="1"/>
          <p:nvPr/>
        </p:nvSpPr>
        <p:spPr>
          <a:xfrm>
            <a:off x="8247888" y="2468880"/>
            <a:ext cx="13716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100"/>
              <a:buFont typeface="Arial"/>
              <a:buNone/>
            </a:pPr>
            <a:r>
              <a:rPr b="0" i="0" lang="en-US" sz="1200" u="none" cap="none" strike="noStrike">
                <a:solidFill>
                  <a:srgbClr val="FFFFFF"/>
                </a:solidFill>
                <a:latin typeface="Arial"/>
                <a:ea typeface="Arial"/>
                <a:cs typeface="Arial"/>
                <a:sym typeface="Arial"/>
              </a:rPr>
              <a:t>Low to Critical; owner team, deadline, actions</a:t>
            </a:r>
            <a:endParaRPr b="0" i="0" sz="1200" u="none" cap="none" strike="noStrike">
              <a:solidFill>
                <a:schemeClr val="dk1"/>
              </a:solidFill>
              <a:latin typeface="Calibri"/>
              <a:ea typeface="Calibri"/>
              <a:cs typeface="Calibri"/>
              <a:sym typeface="Calibri"/>
            </a:endParaRPr>
          </a:p>
        </p:txBody>
      </p:sp>
      <p:cxnSp>
        <p:nvCxnSpPr>
          <p:cNvPr id="79" name="Google Shape;79;p4"/>
          <p:cNvCxnSpPr/>
          <p:nvPr/>
        </p:nvCxnSpPr>
        <p:spPr>
          <a:xfrm>
            <a:off x="9793224" y="2446020"/>
            <a:ext cx="182880" cy="0"/>
          </a:xfrm>
          <a:prstGeom prst="straightConnector1">
            <a:avLst/>
          </a:prstGeom>
          <a:noFill/>
          <a:ln cap="flat" cmpd="sng" w="15875">
            <a:solidFill>
              <a:srgbClr val="7F7F7F"/>
            </a:solidFill>
            <a:prstDash val="solid"/>
            <a:round/>
            <a:headEnd len="sm" w="sm" type="none"/>
            <a:tailEnd len="med" w="med" type="triangle"/>
          </a:ln>
        </p:spPr>
      </p:cxnSp>
      <p:sp>
        <p:nvSpPr>
          <p:cNvPr id="80" name="Google Shape;80;p4"/>
          <p:cNvSpPr/>
          <p:nvPr/>
        </p:nvSpPr>
        <p:spPr>
          <a:xfrm>
            <a:off x="10012680" y="1417320"/>
            <a:ext cx="1645920" cy="2057400"/>
          </a:xfrm>
          <a:prstGeom prst="rect">
            <a:avLst/>
          </a:prstGeom>
          <a:solidFill>
            <a:srgbClr val="FFFFFF"/>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4"/>
          <p:cNvSpPr txBox="1"/>
          <p:nvPr/>
        </p:nvSpPr>
        <p:spPr>
          <a:xfrm>
            <a:off x="10149840" y="1527048"/>
            <a:ext cx="914400" cy="502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CCABC"/>
              </a:buClr>
              <a:buSzPts val="2800"/>
              <a:buFont typeface="Arial"/>
              <a:buNone/>
            </a:pPr>
            <a:r>
              <a:rPr b="1" i="0" lang="en-US" sz="2800" u="none" cap="none" strike="noStrike">
                <a:solidFill>
                  <a:srgbClr val="CCCABC"/>
                </a:solidFill>
                <a:latin typeface="Arial"/>
                <a:ea typeface="Arial"/>
                <a:cs typeface="Arial"/>
                <a:sym typeface="Arial"/>
              </a:rPr>
              <a:t>6</a:t>
            </a:r>
            <a:endParaRPr b="0" i="0" sz="2800" u="none" cap="none" strike="noStrike">
              <a:solidFill>
                <a:schemeClr val="dk1"/>
              </a:solidFill>
              <a:latin typeface="Calibri"/>
              <a:ea typeface="Calibri"/>
              <a:cs typeface="Calibri"/>
              <a:sym typeface="Calibri"/>
            </a:endParaRPr>
          </a:p>
        </p:txBody>
      </p:sp>
      <p:sp>
        <p:nvSpPr>
          <p:cNvPr id="82" name="Google Shape;82;p4"/>
          <p:cNvSpPr txBox="1"/>
          <p:nvPr/>
        </p:nvSpPr>
        <p:spPr>
          <a:xfrm>
            <a:off x="10149840" y="2075688"/>
            <a:ext cx="137160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Show</a:t>
            </a:r>
            <a:endParaRPr b="0" i="0" sz="1500" u="none" cap="none" strike="noStrike">
              <a:solidFill>
                <a:schemeClr val="dk1"/>
              </a:solidFill>
              <a:latin typeface="Calibri"/>
              <a:ea typeface="Calibri"/>
              <a:cs typeface="Calibri"/>
              <a:sym typeface="Calibri"/>
            </a:endParaRPr>
          </a:p>
        </p:txBody>
      </p:sp>
      <p:sp>
        <p:nvSpPr>
          <p:cNvPr id="83" name="Google Shape;83;p4"/>
          <p:cNvSpPr txBox="1"/>
          <p:nvPr/>
        </p:nvSpPr>
        <p:spPr>
          <a:xfrm>
            <a:off x="10149840" y="2468880"/>
            <a:ext cx="137160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100"/>
              <a:buFont typeface="Arial"/>
              <a:buNone/>
            </a:pPr>
            <a:r>
              <a:rPr b="0" i="0" lang="en-US" sz="1200" u="none" cap="none" strike="noStrike">
                <a:solidFill>
                  <a:srgbClr val="000000"/>
                </a:solidFill>
                <a:latin typeface="Arial"/>
                <a:ea typeface="Arial"/>
                <a:cs typeface="Arial"/>
                <a:sym typeface="Arial"/>
              </a:rPr>
              <a:t>Dashboard with score, alert and evidence</a:t>
            </a:r>
            <a:endParaRPr b="0" i="0" sz="1200" u="none" cap="none" strike="noStrike">
              <a:solidFill>
                <a:schemeClr val="dk1"/>
              </a:solidFill>
              <a:latin typeface="Calibri"/>
              <a:ea typeface="Calibri"/>
              <a:cs typeface="Calibri"/>
              <a:sym typeface="Calibri"/>
            </a:endParaRPr>
          </a:p>
        </p:txBody>
      </p:sp>
      <p:sp>
        <p:nvSpPr>
          <p:cNvPr id="84" name="Google Shape;84;p4"/>
          <p:cNvSpPr txBox="1"/>
          <p:nvPr>
            <p:ph idx="4294967295" type="sldNum"/>
          </p:nvPr>
        </p:nvSpPr>
        <p:spPr>
          <a:xfrm>
            <a:off x="11247120" y="6400800"/>
            <a:ext cx="4389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800" u="none" cap="none" strike="noStrike">
                <a:solidFill>
                  <a:srgbClr val="7F7F7F"/>
                </a:solidFill>
                <a:latin typeface="Arial"/>
                <a:ea typeface="Arial"/>
                <a:cs typeface="Arial"/>
                <a:sym typeface="Arial"/>
              </a:rPr>
              <a:t>‹#›</a:t>
            </a:fld>
            <a:endParaRPr b="0" i="0" sz="800" u="none" cap="none" strike="noStrike">
              <a:solidFill>
                <a:srgbClr val="7F7F7F"/>
              </a:solidFill>
              <a:latin typeface="Arial"/>
              <a:ea typeface="Arial"/>
              <a:cs typeface="Arial"/>
              <a:sym typeface="Arial"/>
            </a:endParaRPr>
          </a:p>
        </p:txBody>
      </p:sp>
      <p:sp>
        <p:nvSpPr>
          <p:cNvPr id="85" name="Google Shape;85;p4"/>
          <p:cNvSpPr/>
          <p:nvPr/>
        </p:nvSpPr>
        <p:spPr>
          <a:xfrm rot="-5400000">
            <a:off x="2902325" y="2017100"/>
            <a:ext cx="651000" cy="3890700"/>
          </a:xfrm>
          <a:prstGeom prst="lef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6" name="Google Shape;86;p4"/>
          <p:cNvSpPr txBox="1"/>
          <p:nvPr/>
        </p:nvSpPr>
        <p:spPr>
          <a:xfrm>
            <a:off x="1844988" y="4440350"/>
            <a:ext cx="3070500" cy="5028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US" sz="2000"/>
              <a:t>AI Enabled</a:t>
            </a:r>
            <a:endParaRPr b="1" sz="20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5"/>
          <p:cNvSpPr/>
          <p:nvPr/>
        </p:nvSpPr>
        <p:spPr>
          <a:xfrm>
            <a:off x="548640" y="2651760"/>
            <a:ext cx="64008" cy="1554480"/>
          </a:xfrm>
          <a:prstGeom prst="rect">
            <a:avLst/>
          </a:prstGeom>
          <a:solidFill>
            <a:srgbClr val="E60000"/>
          </a:solidFill>
          <a:ln cap="flat" cmpd="sng" w="12700">
            <a:solidFill>
              <a:srgbClr val="E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5"/>
          <p:cNvSpPr txBox="1"/>
          <p:nvPr/>
        </p:nvSpPr>
        <p:spPr>
          <a:xfrm>
            <a:off x="868680" y="2651760"/>
            <a:ext cx="100584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6000"/>
              <a:buFont typeface="Arial"/>
              <a:buNone/>
            </a:pPr>
            <a:r>
              <a:rPr b="0" i="0" lang="en-US" sz="6000" u="none" cap="none" strike="noStrike">
                <a:solidFill>
                  <a:srgbClr val="000000"/>
                </a:solidFill>
                <a:latin typeface="Arial"/>
                <a:ea typeface="Arial"/>
                <a:cs typeface="Arial"/>
                <a:sym typeface="Arial"/>
              </a:rPr>
              <a:t>How it works</a:t>
            </a:r>
            <a:endParaRPr b="0" i="0" sz="6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6"/>
          <p:cNvSpPr txBox="1"/>
          <p:nvPr/>
        </p:nvSpPr>
        <p:spPr>
          <a:xfrm>
            <a:off x="502920" y="365760"/>
            <a:ext cx="11183112"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We use synthetic, clearly labelled data</a:t>
            </a:r>
            <a:endParaRPr b="0" i="0" sz="2800" u="none" cap="none" strike="noStrike">
              <a:solidFill>
                <a:schemeClr val="dk1"/>
              </a:solidFill>
              <a:latin typeface="Calibri"/>
              <a:ea typeface="Calibri"/>
              <a:cs typeface="Calibri"/>
              <a:sym typeface="Calibri"/>
            </a:endParaRPr>
          </a:p>
        </p:txBody>
      </p:sp>
      <p:graphicFrame>
        <p:nvGraphicFramePr>
          <p:cNvPr id="100" name="Google Shape;100;p6"/>
          <p:cNvGraphicFramePr/>
          <p:nvPr/>
        </p:nvGraphicFramePr>
        <p:xfrm>
          <a:off x="502920" y="1417320"/>
          <a:ext cx="3000000" cy="3000000"/>
        </p:xfrm>
        <a:graphic>
          <a:graphicData uri="http://schemas.openxmlformats.org/drawingml/2006/table">
            <a:tbl>
              <a:tblPr>
                <a:noFill/>
                <a:tableStyleId>{952ADB60-F521-4B44-9BCE-6ACEAE689FEF}</a:tableStyleId>
              </a:tblPr>
              <a:tblGrid>
                <a:gridCol w="2011675"/>
                <a:gridCol w="2468875"/>
                <a:gridCol w="2194550"/>
              </a:tblGrid>
              <a:tr h="475500">
                <a:tc>
                  <a:txBody>
                    <a:bodyPr/>
                    <a:lstStyle/>
                    <a:p>
                      <a:pPr indent="0" lvl="0" marL="0" marR="0" rtl="0" algn="l">
                        <a:spcBef>
                          <a:spcPts val="0"/>
                        </a:spcBef>
                        <a:spcAft>
                          <a:spcPts val="0"/>
                        </a:spcAft>
                        <a:buClr>
                          <a:srgbClr val="7F7F7F"/>
                        </a:buClr>
                        <a:buSzPts val="1000"/>
                        <a:buFont typeface="Arial"/>
                        <a:buNone/>
                      </a:pPr>
                      <a:r>
                        <a:rPr i="1" lang="en-US" sz="1000" u="none" cap="none" strike="noStrike">
                          <a:solidFill>
                            <a:srgbClr val="7F7F7F"/>
                          </a:solidFill>
                          <a:latin typeface="Arial"/>
                          <a:ea typeface="Arial"/>
                          <a:cs typeface="Arial"/>
                          <a:sym typeface="Arial"/>
                        </a:rPr>
                        <a:t>Input field</a:t>
                      </a:r>
                      <a:endParaRPr sz="10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7F7F7F"/>
                        </a:buClr>
                        <a:buSzPts val="1000"/>
                        <a:buFont typeface="Arial"/>
                        <a:buNone/>
                      </a:pPr>
                      <a:r>
                        <a:rPr i="1" lang="en-US" sz="1000" u="none" cap="none" strike="noStrike">
                          <a:solidFill>
                            <a:srgbClr val="7F7F7F"/>
                          </a:solidFill>
                          <a:latin typeface="Arial"/>
                          <a:ea typeface="Arial"/>
                          <a:cs typeface="Arial"/>
                          <a:sym typeface="Arial"/>
                        </a:rPr>
                        <a:t>Example</a:t>
                      </a:r>
                      <a:endParaRPr sz="10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7F7F7F"/>
                        </a:buClr>
                        <a:buSzPts val="1000"/>
                        <a:buFont typeface="Arial"/>
                        <a:buNone/>
                      </a:pPr>
                      <a:r>
                        <a:rPr i="1" lang="en-US" sz="1000" u="none" cap="none" strike="noStrike">
                          <a:solidFill>
                            <a:srgbClr val="7F7F7F"/>
                          </a:solidFill>
                          <a:latin typeface="Arial"/>
                          <a:ea typeface="Arial"/>
                          <a:cs typeface="Arial"/>
                          <a:sym typeface="Arial"/>
                        </a:rPr>
                        <a:t>Used for</a:t>
                      </a:r>
                      <a:endParaRPr sz="10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r>
              <a:tr h="475500">
                <a:tc>
                  <a:txBody>
                    <a:bodyPr/>
                    <a:lstStyle/>
                    <a:p>
                      <a:pPr indent="0" lvl="0" marL="0" marR="0" rtl="0" algn="l">
                        <a:spcBef>
                          <a:spcPts val="0"/>
                        </a:spcBef>
                        <a:spcAft>
                          <a:spcPts val="0"/>
                        </a:spcAft>
                        <a:buClr>
                          <a:srgbClr val="000000"/>
                        </a:buClr>
                        <a:buSzPts val="1100"/>
                        <a:buFont typeface="Arial"/>
                        <a:buNone/>
                      </a:pPr>
                      <a:r>
                        <a:rPr b="1" lang="en-US" sz="1100" u="none" cap="none" strike="noStrike">
                          <a:solidFill>
                            <a:srgbClr val="000000"/>
                          </a:solidFill>
                          <a:latin typeface="Arial"/>
                          <a:ea typeface="Arial"/>
                          <a:cs typeface="Arial"/>
                          <a:sym typeface="Arial"/>
                        </a:rPr>
                        <a:t>Source type</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Regulator, major news, blog, social</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Credibility of the signal</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r>
              <a:tr h="475500">
                <a:tc>
                  <a:txBody>
                    <a:bodyPr/>
                    <a:lstStyle/>
                    <a:p>
                      <a:pPr indent="0" lvl="0" marL="0" marR="0" rtl="0" algn="l">
                        <a:spcBef>
                          <a:spcPts val="0"/>
                        </a:spcBef>
                        <a:spcAft>
                          <a:spcPts val="0"/>
                        </a:spcAft>
                        <a:buClr>
                          <a:srgbClr val="000000"/>
                        </a:buClr>
                        <a:buSzPts val="1100"/>
                        <a:buFont typeface="Arial"/>
                        <a:buNone/>
                      </a:pPr>
                      <a:r>
                        <a:rPr b="1" lang="en-US" sz="1100" u="none" cap="none" strike="noStrike">
                          <a:solidFill>
                            <a:srgbClr val="000000"/>
                          </a:solidFill>
                          <a:latin typeface="Arial"/>
                          <a:ea typeface="Arial"/>
                          <a:cs typeface="Arial"/>
                          <a:sym typeface="Arial"/>
                        </a:rPr>
                        <a:t>Risk category</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Cyber, compliance, financial</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Base impact</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r>
              <a:tr h="475500">
                <a:tc>
                  <a:txBody>
                    <a:bodyPr/>
                    <a:lstStyle/>
                    <a:p>
                      <a:pPr indent="0" lvl="0" marL="0" marR="0" rtl="0" algn="l">
                        <a:spcBef>
                          <a:spcPts val="0"/>
                        </a:spcBef>
                        <a:spcAft>
                          <a:spcPts val="0"/>
                        </a:spcAft>
                        <a:buClr>
                          <a:srgbClr val="000000"/>
                        </a:buClr>
                        <a:buSzPts val="1100"/>
                        <a:buFont typeface="Arial"/>
                        <a:buNone/>
                      </a:pPr>
                      <a:r>
                        <a:rPr b="1" lang="en-US" sz="1100" u="none" cap="none" strike="noStrike">
                          <a:solidFill>
                            <a:srgbClr val="000000"/>
                          </a:solidFill>
                          <a:latin typeface="Arial"/>
                          <a:ea typeface="Arial"/>
                          <a:cs typeface="Arial"/>
                          <a:sym typeface="Arial"/>
                        </a:rPr>
                        <a:t>Classifier confidence</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0.92</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Human review below 0.6</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r>
              <a:tr h="475500">
                <a:tc>
                  <a:txBody>
                    <a:bodyPr/>
                    <a:lstStyle/>
                    <a:p>
                      <a:pPr indent="0" lvl="0" marL="0" marR="0" rtl="0" algn="l">
                        <a:spcBef>
                          <a:spcPts val="0"/>
                        </a:spcBef>
                        <a:spcAft>
                          <a:spcPts val="0"/>
                        </a:spcAft>
                        <a:buClr>
                          <a:srgbClr val="000000"/>
                        </a:buClr>
                        <a:buSzPts val="1100"/>
                        <a:buFont typeface="Arial"/>
                        <a:buNone/>
                      </a:pPr>
                      <a:r>
                        <a:rPr b="1" lang="en-US" sz="1100" u="none" cap="none" strike="noStrike">
                          <a:solidFill>
                            <a:srgbClr val="000000"/>
                          </a:solidFill>
                          <a:latin typeface="Arial"/>
                          <a:ea typeface="Arial"/>
                          <a:cs typeface="Arial"/>
                          <a:sym typeface="Arial"/>
                        </a:rPr>
                        <a:t>Publication date</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2 days ago</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Recency weighting</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r>
              <a:tr h="475500">
                <a:tc>
                  <a:txBody>
                    <a:bodyPr/>
                    <a:lstStyle/>
                    <a:p>
                      <a:pPr indent="0" lvl="0" marL="0" marR="0" rtl="0" algn="l">
                        <a:spcBef>
                          <a:spcPts val="0"/>
                        </a:spcBef>
                        <a:spcAft>
                          <a:spcPts val="0"/>
                        </a:spcAft>
                        <a:buClr>
                          <a:srgbClr val="000000"/>
                        </a:buClr>
                        <a:buSzPts val="1100"/>
                        <a:buFont typeface="Arial"/>
                        <a:buNone/>
                      </a:pPr>
                      <a:r>
                        <a:rPr b="1" lang="en-US" sz="1100" u="none" cap="none" strike="noStrike">
                          <a:solidFill>
                            <a:srgbClr val="000000"/>
                          </a:solidFill>
                          <a:latin typeface="Arial"/>
                          <a:ea typeface="Arial"/>
                          <a:cs typeface="Arial"/>
                          <a:sym typeface="Arial"/>
                        </a:rPr>
                        <a:t>Vendor criticality</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Low, medium, high, critical</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Profiled risk (impact)</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r>
              <a:tr h="475500">
                <a:tc>
                  <a:txBody>
                    <a:bodyPr/>
                    <a:lstStyle/>
                    <a:p>
                      <a:pPr indent="0" lvl="0" marL="0" marR="0" rtl="0" algn="l">
                        <a:spcBef>
                          <a:spcPts val="0"/>
                        </a:spcBef>
                        <a:spcAft>
                          <a:spcPts val="0"/>
                        </a:spcAft>
                        <a:buClr>
                          <a:srgbClr val="000000"/>
                        </a:buClr>
                        <a:buSzPts val="1100"/>
                        <a:buFont typeface="Arial"/>
                        <a:buNone/>
                      </a:pPr>
                      <a:r>
                        <a:rPr b="1" lang="en-US" sz="1100" u="none" cap="none" strike="noStrike">
                          <a:solidFill>
                            <a:srgbClr val="000000"/>
                          </a:solidFill>
                          <a:latin typeface="Arial"/>
                          <a:ea typeface="Arial"/>
                          <a:cs typeface="Arial"/>
                          <a:sym typeface="Arial"/>
                        </a:rPr>
                        <a:t>Data access</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None up to client PII</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Impact for cyber and privacy</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r>
              <a:tr h="475500">
                <a:tc>
                  <a:txBody>
                    <a:bodyPr/>
                    <a:lstStyle/>
                    <a:p>
                      <a:pPr indent="0" lvl="0" marL="0" marR="0" rtl="0" algn="l">
                        <a:spcBef>
                          <a:spcPts val="0"/>
                        </a:spcBef>
                        <a:spcAft>
                          <a:spcPts val="0"/>
                        </a:spcAft>
                        <a:buClr>
                          <a:srgbClr val="000000"/>
                        </a:buClr>
                        <a:buSzPts val="1100"/>
                        <a:buFont typeface="Arial"/>
                        <a:buNone/>
                      </a:pPr>
                      <a:r>
                        <a:rPr b="1" lang="en-US" sz="1100" u="none" cap="none" strike="noStrike">
                          <a:solidFill>
                            <a:srgbClr val="000000"/>
                          </a:solidFill>
                          <a:latin typeface="Arial"/>
                          <a:ea typeface="Arial"/>
                          <a:cs typeface="Arial"/>
                          <a:sym typeface="Arial"/>
                        </a:rPr>
                        <a:t>Controls</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SOC 2, ISO 27001, tested BCP</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Residual risk</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r>
            </a:tbl>
          </a:graphicData>
        </a:graphic>
      </p:graphicFrame>
      <p:sp>
        <p:nvSpPr>
          <p:cNvPr id="101" name="Google Shape;101;p6"/>
          <p:cNvSpPr/>
          <p:nvPr/>
        </p:nvSpPr>
        <p:spPr>
          <a:xfrm>
            <a:off x="7543800" y="1371600"/>
            <a:ext cx="4142232" cy="4526280"/>
          </a:xfrm>
          <a:prstGeom prst="rect">
            <a:avLst/>
          </a:prstGeom>
          <a:solidFill>
            <a:srgbClr val="ECEBE4"/>
          </a:solidFill>
          <a:ln cap="flat" cmpd="sng" w="12700">
            <a:solidFill>
              <a:srgbClr val="ECEB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txBox="1"/>
          <p:nvPr/>
        </p:nvSpPr>
        <p:spPr>
          <a:xfrm>
            <a:off x="7772400" y="1554480"/>
            <a:ext cx="3749040"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0000"/>
              </a:buClr>
              <a:buSzPts val="1600"/>
              <a:buFont typeface="Arial"/>
              <a:buNone/>
            </a:pPr>
            <a:r>
              <a:rPr b="0" i="0" lang="en-US" sz="1600" u="none" cap="none" strike="noStrike">
                <a:solidFill>
                  <a:srgbClr val="E60000"/>
                </a:solidFill>
                <a:latin typeface="Arial"/>
                <a:ea typeface="Arial"/>
                <a:cs typeface="Arial"/>
                <a:sym typeface="Arial"/>
              </a:rPr>
              <a:t>Our five fictional vendors</a:t>
            </a:r>
            <a:endParaRPr b="0" i="0" sz="1600" u="none" cap="none" strike="noStrike">
              <a:solidFill>
                <a:schemeClr val="dk1"/>
              </a:solidFill>
              <a:latin typeface="Calibri"/>
              <a:ea typeface="Calibri"/>
              <a:cs typeface="Calibri"/>
              <a:sym typeface="Calibri"/>
            </a:endParaRPr>
          </a:p>
        </p:txBody>
      </p:sp>
      <p:sp>
        <p:nvSpPr>
          <p:cNvPr id="103" name="Google Shape;103;p6"/>
          <p:cNvSpPr txBox="1"/>
          <p:nvPr/>
        </p:nvSpPr>
        <p:spPr>
          <a:xfrm>
            <a:off x="7772400" y="2057400"/>
            <a:ext cx="3749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Nordbridge Cloud Services</a:t>
            </a:r>
            <a:endParaRPr b="0" i="0" sz="1300" u="none" cap="none" strike="noStrike">
              <a:solidFill>
                <a:schemeClr val="dk1"/>
              </a:solidFill>
              <a:latin typeface="Calibri"/>
              <a:ea typeface="Calibri"/>
              <a:cs typeface="Calibri"/>
              <a:sym typeface="Calibri"/>
            </a:endParaRPr>
          </a:p>
        </p:txBody>
      </p:sp>
      <p:sp>
        <p:nvSpPr>
          <p:cNvPr id="104" name="Google Shape;104;p6"/>
          <p:cNvSpPr txBox="1"/>
          <p:nvPr/>
        </p:nvSpPr>
        <p:spPr>
          <a:xfrm>
            <a:off x="7772400" y="2304288"/>
            <a:ext cx="3749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D5C"/>
              </a:buClr>
              <a:buSzPts val="1100"/>
              <a:buFont typeface="Arial"/>
              <a:buNone/>
            </a:pPr>
            <a:r>
              <a:rPr b="0" i="0" lang="en-US" sz="1100" u="none" cap="none" strike="noStrike">
                <a:solidFill>
                  <a:srgbClr val="5A5D5C"/>
                </a:solidFill>
                <a:latin typeface="Arial"/>
                <a:ea typeface="Arial"/>
                <a:cs typeface="Arial"/>
                <a:sym typeface="Arial"/>
              </a:rPr>
              <a:t>Cloud hosting · critical</a:t>
            </a:r>
            <a:endParaRPr b="0" i="0" sz="1100" u="none" cap="none" strike="noStrike">
              <a:solidFill>
                <a:schemeClr val="dk1"/>
              </a:solidFill>
              <a:latin typeface="Calibri"/>
              <a:ea typeface="Calibri"/>
              <a:cs typeface="Calibri"/>
              <a:sym typeface="Calibri"/>
            </a:endParaRPr>
          </a:p>
        </p:txBody>
      </p:sp>
      <p:sp>
        <p:nvSpPr>
          <p:cNvPr id="105" name="Google Shape;105;p6"/>
          <p:cNvSpPr txBox="1"/>
          <p:nvPr/>
        </p:nvSpPr>
        <p:spPr>
          <a:xfrm>
            <a:off x="7772400" y="2606040"/>
            <a:ext cx="3749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Veltrix Payments</a:t>
            </a:r>
            <a:endParaRPr b="0" i="0" sz="1300" u="none" cap="none" strike="noStrike">
              <a:solidFill>
                <a:schemeClr val="dk1"/>
              </a:solidFill>
              <a:latin typeface="Calibri"/>
              <a:ea typeface="Calibri"/>
              <a:cs typeface="Calibri"/>
              <a:sym typeface="Calibri"/>
            </a:endParaRPr>
          </a:p>
        </p:txBody>
      </p:sp>
      <p:sp>
        <p:nvSpPr>
          <p:cNvPr id="106" name="Google Shape;106;p6"/>
          <p:cNvSpPr txBox="1"/>
          <p:nvPr/>
        </p:nvSpPr>
        <p:spPr>
          <a:xfrm>
            <a:off x="7772400" y="2852928"/>
            <a:ext cx="3749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D5C"/>
              </a:buClr>
              <a:buSzPts val="1100"/>
              <a:buFont typeface="Arial"/>
              <a:buNone/>
            </a:pPr>
            <a:r>
              <a:rPr b="0" i="0" lang="en-US" sz="1100" u="none" cap="none" strike="noStrike">
                <a:solidFill>
                  <a:srgbClr val="5A5D5C"/>
                </a:solidFill>
                <a:latin typeface="Arial"/>
                <a:ea typeface="Arial"/>
                <a:cs typeface="Arial"/>
                <a:sym typeface="Arial"/>
              </a:rPr>
              <a:t>Payment processing · high</a:t>
            </a:r>
            <a:endParaRPr b="0" i="0" sz="1100" u="none" cap="none" strike="noStrike">
              <a:solidFill>
                <a:schemeClr val="dk1"/>
              </a:solidFill>
              <a:latin typeface="Calibri"/>
              <a:ea typeface="Calibri"/>
              <a:cs typeface="Calibri"/>
              <a:sym typeface="Calibri"/>
            </a:endParaRPr>
          </a:p>
        </p:txBody>
      </p:sp>
      <p:sp>
        <p:nvSpPr>
          <p:cNvPr id="107" name="Google Shape;107;p6"/>
          <p:cNvSpPr txBox="1"/>
          <p:nvPr/>
        </p:nvSpPr>
        <p:spPr>
          <a:xfrm>
            <a:off x="7772400" y="3154680"/>
            <a:ext cx="3749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Quellion Data Analytics</a:t>
            </a:r>
            <a:endParaRPr b="0" i="0" sz="1300" u="none" cap="none" strike="noStrike">
              <a:solidFill>
                <a:schemeClr val="dk1"/>
              </a:solidFill>
              <a:latin typeface="Calibri"/>
              <a:ea typeface="Calibri"/>
              <a:cs typeface="Calibri"/>
              <a:sym typeface="Calibri"/>
            </a:endParaRPr>
          </a:p>
        </p:txBody>
      </p:sp>
      <p:sp>
        <p:nvSpPr>
          <p:cNvPr id="108" name="Google Shape;108;p6"/>
          <p:cNvSpPr txBox="1"/>
          <p:nvPr/>
        </p:nvSpPr>
        <p:spPr>
          <a:xfrm>
            <a:off x="7772400" y="3401568"/>
            <a:ext cx="3749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D5C"/>
              </a:buClr>
              <a:buSzPts val="1100"/>
              <a:buFont typeface="Arial"/>
              <a:buNone/>
            </a:pPr>
            <a:r>
              <a:rPr b="0" i="0" lang="en-US" sz="1100" u="none" cap="none" strike="noStrike">
                <a:solidFill>
                  <a:srgbClr val="5A5D5C"/>
                </a:solidFill>
                <a:latin typeface="Arial"/>
                <a:ea typeface="Arial"/>
                <a:cs typeface="Arial"/>
                <a:sym typeface="Arial"/>
              </a:rPr>
              <a:t>Analytics SaaS · high</a:t>
            </a:r>
            <a:endParaRPr b="0" i="0" sz="1100" u="none" cap="none" strike="noStrike">
              <a:solidFill>
                <a:schemeClr val="dk1"/>
              </a:solidFill>
              <a:latin typeface="Calibri"/>
              <a:ea typeface="Calibri"/>
              <a:cs typeface="Calibri"/>
              <a:sym typeface="Calibri"/>
            </a:endParaRPr>
          </a:p>
        </p:txBody>
      </p:sp>
      <p:sp>
        <p:nvSpPr>
          <p:cNvPr id="109" name="Google Shape;109;p6"/>
          <p:cNvSpPr txBox="1"/>
          <p:nvPr/>
        </p:nvSpPr>
        <p:spPr>
          <a:xfrm>
            <a:off x="7772400" y="3703320"/>
            <a:ext cx="3749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Arcadia Consulting</a:t>
            </a:r>
            <a:endParaRPr b="0" i="0" sz="1300" u="none" cap="none" strike="noStrike">
              <a:solidFill>
                <a:schemeClr val="dk1"/>
              </a:solidFill>
              <a:latin typeface="Calibri"/>
              <a:ea typeface="Calibri"/>
              <a:cs typeface="Calibri"/>
              <a:sym typeface="Calibri"/>
            </a:endParaRPr>
          </a:p>
        </p:txBody>
      </p:sp>
      <p:sp>
        <p:nvSpPr>
          <p:cNvPr id="110" name="Google Shape;110;p6"/>
          <p:cNvSpPr txBox="1"/>
          <p:nvPr/>
        </p:nvSpPr>
        <p:spPr>
          <a:xfrm>
            <a:off x="7772400" y="3950208"/>
            <a:ext cx="3749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D5C"/>
              </a:buClr>
              <a:buSzPts val="1100"/>
              <a:buFont typeface="Arial"/>
              <a:buNone/>
            </a:pPr>
            <a:r>
              <a:rPr b="0" i="0" lang="en-US" sz="1100" u="none" cap="none" strike="noStrike">
                <a:solidFill>
                  <a:srgbClr val="5A5D5C"/>
                </a:solidFill>
                <a:latin typeface="Arial"/>
                <a:ea typeface="Arial"/>
                <a:cs typeface="Arial"/>
                <a:sym typeface="Arial"/>
              </a:rPr>
              <a:t>Consulting · medium</a:t>
            </a:r>
            <a:endParaRPr b="0" i="0" sz="1100" u="none" cap="none" strike="noStrike">
              <a:solidFill>
                <a:schemeClr val="dk1"/>
              </a:solidFill>
              <a:latin typeface="Calibri"/>
              <a:ea typeface="Calibri"/>
              <a:cs typeface="Calibri"/>
              <a:sym typeface="Calibri"/>
            </a:endParaRPr>
          </a:p>
        </p:txBody>
      </p:sp>
      <p:sp>
        <p:nvSpPr>
          <p:cNvPr id="111" name="Google Shape;111;p6"/>
          <p:cNvSpPr txBox="1"/>
          <p:nvPr/>
        </p:nvSpPr>
        <p:spPr>
          <a:xfrm>
            <a:off x="7772400" y="4251960"/>
            <a:ext cx="3749040" cy="25603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300"/>
              <a:buFont typeface="Arial"/>
              <a:buNone/>
            </a:pPr>
            <a:r>
              <a:rPr b="1" i="0" lang="en-US" sz="1300" u="none" cap="none" strike="noStrike">
                <a:solidFill>
                  <a:srgbClr val="000000"/>
                </a:solidFill>
                <a:latin typeface="Arial"/>
                <a:ea typeface="Arial"/>
                <a:cs typeface="Arial"/>
                <a:sym typeface="Arial"/>
              </a:rPr>
              <a:t>Brightline Facilities</a:t>
            </a:r>
            <a:endParaRPr b="0" i="0" sz="1300" u="none" cap="none" strike="noStrike">
              <a:solidFill>
                <a:schemeClr val="dk1"/>
              </a:solidFill>
              <a:latin typeface="Calibri"/>
              <a:ea typeface="Calibri"/>
              <a:cs typeface="Calibri"/>
              <a:sym typeface="Calibri"/>
            </a:endParaRPr>
          </a:p>
        </p:txBody>
      </p:sp>
      <p:sp>
        <p:nvSpPr>
          <p:cNvPr id="112" name="Google Shape;112;p6"/>
          <p:cNvSpPr txBox="1"/>
          <p:nvPr/>
        </p:nvSpPr>
        <p:spPr>
          <a:xfrm>
            <a:off x="7772400" y="4498848"/>
            <a:ext cx="3749040" cy="237744"/>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A5D5C"/>
              </a:buClr>
              <a:buSzPts val="1100"/>
              <a:buFont typeface="Arial"/>
              <a:buNone/>
            </a:pPr>
            <a:r>
              <a:rPr b="0" i="0" lang="en-US" sz="1100" u="none" cap="none" strike="noStrike">
                <a:solidFill>
                  <a:srgbClr val="5A5D5C"/>
                </a:solidFill>
                <a:latin typeface="Arial"/>
                <a:ea typeface="Arial"/>
                <a:cs typeface="Arial"/>
                <a:sym typeface="Arial"/>
              </a:rPr>
              <a:t>Facility management · low</a:t>
            </a:r>
            <a:endParaRPr b="0" i="0" sz="1100" u="none" cap="none" strike="noStrike">
              <a:solidFill>
                <a:schemeClr val="dk1"/>
              </a:solidFill>
              <a:latin typeface="Calibri"/>
              <a:ea typeface="Calibri"/>
              <a:cs typeface="Calibri"/>
              <a:sym typeface="Calibri"/>
            </a:endParaRPr>
          </a:p>
        </p:txBody>
      </p:sp>
      <p:sp>
        <p:nvSpPr>
          <p:cNvPr id="113" name="Google Shape;113;p6"/>
          <p:cNvSpPr txBox="1"/>
          <p:nvPr/>
        </p:nvSpPr>
        <p:spPr>
          <a:xfrm>
            <a:off x="7772400" y="4892040"/>
            <a:ext cx="3749040" cy="8686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10 synthetic signals, including difficult cases: old news, a low-confidence social media post, and single versus corroborated sources.</a:t>
            </a:r>
            <a:endParaRPr b="0" i="0" sz="1200" u="none" cap="none" strike="noStrike">
              <a:solidFill>
                <a:schemeClr val="dk1"/>
              </a:solidFill>
              <a:latin typeface="Calibri"/>
              <a:ea typeface="Calibri"/>
              <a:cs typeface="Calibri"/>
              <a:sym typeface="Calibri"/>
            </a:endParaRPr>
          </a:p>
        </p:txBody>
      </p:sp>
      <p:sp>
        <p:nvSpPr>
          <p:cNvPr id="114" name="Google Shape;114;p6"/>
          <p:cNvSpPr txBox="1"/>
          <p:nvPr>
            <p:ph idx="4294967295" type="sldNum"/>
          </p:nvPr>
        </p:nvSpPr>
        <p:spPr>
          <a:xfrm>
            <a:off x="11247120" y="6400800"/>
            <a:ext cx="4389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800" u="none" cap="none" strike="noStrike">
                <a:solidFill>
                  <a:srgbClr val="7F7F7F"/>
                </a:solidFill>
                <a:latin typeface="Arial"/>
                <a:ea typeface="Arial"/>
                <a:cs typeface="Arial"/>
                <a:sym typeface="Arial"/>
              </a:rPr>
              <a:t>‹#›</a:t>
            </a:fld>
            <a:endParaRPr b="0" i="0" sz="800" u="none" cap="none" strike="noStrike">
              <a:solidFill>
                <a:srgbClr val="7F7F7F"/>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7"/>
          <p:cNvSpPr txBox="1"/>
          <p:nvPr/>
        </p:nvSpPr>
        <p:spPr>
          <a:xfrm>
            <a:off x="502920" y="365760"/>
            <a:ext cx="11183112"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Risk = Likelihood × Impact, reduced by the vendor's controls</a:t>
            </a:r>
            <a:endParaRPr b="0" i="0" sz="2800" u="none" cap="none" strike="noStrike">
              <a:solidFill>
                <a:schemeClr val="dk1"/>
              </a:solidFill>
              <a:latin typeface="Calibri"/>
              <a:ea typeface="Calibri"/>
              <a:cs typeface="Calibri"/>
              <a:sym typeface="Calibri"/>
            </a:endParaRPr>
          </a:p>
        </p:txBody>
      </p:sp>
      <p:sp>
        <p:nvSpPr>
          <p:cNvPr id="121" name="Google Shape;121;p7"/>
          <p:cNvSpPr txBox="1"/>
          <p:nvPr/>
        </p:nvSpPr>
        <p:spPr>
          <a:xfrm>
            <a:off x="3566160" y="6382512"/>
            <a:ext cx="7498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methodology after Mitratech (2026)</a:t>
            </a:r>
            <a:endParaRPr b="0" i="0" sz="800" u="none" cap="none" strike="noStrike">
              <a:solidFill>
                <a:schemeClr val="dk1"/>
              </a:solidFill>
              <a:latin typeface="Calibri"/>
              <a:ea typeface="Calibri"/>
              <a:cs typeface="Calibri"/>
              <a:sym typeface="Calibri"/>
            </a:endParaRPr>
          </a:p>
        </p:txBody>
      </p:sp>
      <p:sp>
        <p:nvSpPr>
          <p:cNvPr id="122" name="Google Shape;122;p7"/>
          <p:cNvSpPr txBox="1"/>
          <p:nvPr/>
        </p:nvSpPr>
        <p:spPr>
          <a:xfrm>
            <a:off x="502920" y="1280160"/>
            <a:ext cx="3566160" cy="32004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E60000"/>
              </a:buClr>
              <a:buSzPts val="1500"/>
              <a:buFont typeface="Arial"/>
              <a:buNone/>
            </a:pPr>
            <a:r>
              <a:rPr b="0" i="0" lang="en-US" sz="1500" u="none" cap="none" strike="noStrike">
                <a:solidFill>
                  <a:srgbClr val="E60000"/>
                </a:solidFill>
                <a:latin typeface="Arial"/>
                <a:ea typeface="Arial"/>
                <a:cs typeface="Arial"/>
                <a:sym typeface="Arial"/>
              </a:rPr>
              <a:t>Likelihood (1–5)</a:t>
            </a:r>
            <a:endParaRPr b="0" i="0" sz="1500" u="none" cap="none" strike="noStrike">
              <a:solidFill>
                <a:schemeClr val="dk1"/>
              </a:solidFill>
              <a:latin typeface="Calibri"/>
              <a:ea typeface="Calibri"/>
              <a:cs typeface="Calibri"/>
              <a:sym typeface="Calibri"/>
            </a:endParaRPr>
          </a:p>
        </p:txBody>
      </p:sp>
      <p:cxnSp>
        <p:nvCxnSpPr>
          <p:cNvPr id="123" name="Google Shape;123;p7"/>
          <p:cNvCxnSpPr/>
          <p:nvPr/>
        </p:nvCxnSpPr>
        <p:spPr>
          <a:xfrm>
            <a:off x="502920" y="1664208"/>
            <a:ext cx="3566160" cy="0"/>
          </a:xfrm>
          <a:prstGeom prst="straightConnector1">
            <a:avLst/>
          </a:prstGeom>
          <a:noFill/>
          <a:ln cap="flat" cmpd="sng" w="9525">
            <a:solidFill>
              <a:srgbClr val="BFBFBF"/>
            </a:solidFill>
            <a:prstDash val="solid"/>
            <a:round/>
            <a:headEnd len="sm" w="sm" type="none"/>
            <a:tailEnd len="sm" w="sm" type="none"/>
          </a:ln>
        </p:spPr>
      </p:cxnSp>
      <p:sp>
        <p:nvSpPr>
          <p:cNvPr id="124" name="Google Shape;124;p7"/>
          <p:cNvSpPr txBox="1"/>
          <p:nvPr/>
        </p:nvSpPr>
        <p:spPr>
          <a:xfrm>
            <a:off x="4379976" y="1280160"/>
            <a:ext cx="3566160" cy="32004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E60000"/>
              </a:buClr>
              <a:buSzPts val="1500"/>
              <a:buFont typeface="Arial"/>
              <a:buNone/>
            </a:pPr>
            <a:r>
              <a:rPr b="0" i="0" lang="en-US" sz="1500" u="none" cap="none" strike="noStrike">
                <a:solidFill>
                  <a:srgbClr val="E60000"/>
                </a:solidFill>
                <a:latin typeface="Arial"/>
                <a:ea typeface="Arial"/>
                <a:cs typeface="Arial"/>
                <a:sym typeface="Arial"/>
              </a:rPr>
              <a:t>Impact (1–5)</a:t>
            </a:r>
            <a:endParaRPr b="0" i="0" sz="1500" u="none" cap="none" strike="noStrike">
              <a:solidFill>
                <a:schemeClr val="dk1"/>
              </a:solidFill>
              <a:latin typeface="Calibri"/>
              <a:ea typeface="Calibri"/>
              <a:cs typeface="Calibri"/>
              <a:sym typeface="Calibri"/>
            </a:endParaRPr>
          </a:p>
        </p:txBody>
      </p:sp>
      <p:cxnSp>
        <p:nvCxnSpPr>
          <p:cNvPr id="125" name="Google Shape;125;p7"/>
          <p:cNvCxnSpPr/>
          <p:nvPr/>
        </p:nvCxnSpPr>
        <p:spPr>
          <a:xfrm>
            <a:off x="4379976" y="1664208"/>
            <a:ext cx="3566160" cy="0"/>
          </a:xfrm>
          <a:prstGeom prst="straightConnector1">
            <a:avLst/>
          </a:prstGeom>
          <a:noFill/>
          <a:ln cap="flat" cmpd="sng" w="9525">
            <a:solidFill>
              <a:srgbClr val="BFBFBF"/>
            </a:solidFill>
            <a:prstDash val="solid"/>
            <a:round/>
            <a:headEnd len="sm" w="sm" type="none"/>
            <a:tailEnd len="sm" w="sm" type="none"/>
          </a:ln>
        </p:spPr>
      </p:cxnSp>
      <p:sp>
        <p:nvSpPr>
          <p:cNvPr id="126" name="Google Shape;126;p7"/>
          <p:cNvSpPr txBox="1"/>
          <p:nvPr/>
        </p:nvSpPr>
        <p:spPr>
          <a:xfrm>
            <a:off x="8257032" y="1280160"/>
            <a:ext cx="3566160" cy="32004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E60000"/>
              </a:buClr>
              <a:buSzPts val="1500"/>
              <a:buFont typeface="Arial"/>
              <a:buNone/>
            </a:pPr>
            <a:r>
              <a:rPr b="0" i="0" lang="en-US" sz="1500" u="none" cap="none" strike="noStrike">
                <a:solidFill>
                  <a:srgbClr val="E60000"/>
                </a:solidFill>
                <a:latin typeface="Arial"/>
                <a:ea typeface="Arial"/>
                <a:cs typeface="Arial"/>
                <a:sym typeface="Arial"/>
              </a:rPr>
              <a:t>Residual risk (1–25)</a:t>
            </a:r>
            <a:endParaRPr b="0" i="0" sz="1500" u="none" cap="none" strike="noStrike">
              <a:solidFill>
                <a:schemeClr val="dk1"/>
              </a:solidFill>
              <a:latin typeface="Calibri"/>
              <a:ea typeface="Calibri"/>
              <a:cs typeface="Calibri"/>
              <a:sym typeface="Calibri"/>
            </a:endParaRPr>
          </a:p>
        </p:txBody>
      </p:sp>
      <p:cxnSp>
        <p:nvCxnSpPr>
          <p:cNvPr id="127" name="Google Shape;127;p7"/>
          <p:cNvCxnSpPr/>
          <p:nvPr/>
        </p:nvCxnSpPr>
        <p:spPr>
          <a:xfrm>
            <a:off x="8257032" y="1664208"/>
            <a:ext cx="3566160" cy="0"/>
          </a:xfrm>
          <a:prstGeom prst="straightConnector1">
            <a:avLst/>
          </a:prstGeom>
          <a:noFill/>
          <a:ln cap="flat" cmpd="sng" w="9525">
            <a:solidFill>
              <a:srgbClr val="BFBFBF"/>
            </a:solidFill>
            <a:prstDash val="solid"/>
            <a:round/>
            <a:headEnd len="sm" w="sm" type="none"/>
            <a:tailEnd len="sm" w="sm" type="none"/>
          </a:ln>
        </p:spPr>
      </p:cxnSp>
      <p:sp>
        <p:nvSpPr>
          <p:cNvPr id="128" name="Google Shape;128;p7"/>
          <p:cNvSpPr/>
          <p:nvPr/>
        </p:nvSpPr>
        <p:spPr>
          <a:xfrm>
            <a:off x="777240" y="1874520"/>
            <a:ext cx="1051560" cy="1051560"/>
          </a:xfrm>
          <a:prstGeom prst="ellipse">
            <a:avLst/>
          </a:prstGeom>
          <a:solidFill>
            <a:srgbClr val="ECEBE4"/>
          </a:solidFill>
          <a:ln cap="flat" cmpd="sng" w="12700">
            <a:solidFill>
              <a:srgbClr val="ECEB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7"/>
          <p:cNvSpPr txBox="1"/>
          <p:nvPr/>
        </p:nvSpPr>
        <p:spPr>
          <a:xfrm>
            <a:off x="777240" y="1874520"/>
            <a:ext cx="1051560" cy="10515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35%</a:t>
            </a:r>
            <a:endParaRPr b="0" i="0" sz="2000" u="none" cap="none" strike="noStrike">
              <a:solidFill>
                <a:schemeClr val="dk1"/>
              </a:solidFill>
              <a:latin typeface="Calibri"/>
              <a:ea typeface="Calibri"/>
              <a:cs typeface="Calibri"/>
              <a:sym typeface="Calibri"/>
            </a:endParaRPr>
          </a:p>
        </p:txBody>
      </p:sp>
      <p:sp>
        <p:nvSpPr>
          <p:cNvPr id="130" name="Google Shape;130;p7"/>
          <p:cNvSpPr txBox="1"/>
          <p:nvPr/>
        </p:nvSpPr>
        <p:spPr>
          <a:xfrm>
            <a:off x="502920" y="2971800"/>
            <a:ext cx="1645920" cy="4114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Source credibility</a:t>
            </a:r>
            <a:endParaRPr b="0" i="0" sz="1100" u="none" cap="none" strike="noStrike">
              <a:solidFill>
                <a:schemeClr val="dk1"/>
              </a:solidFill>
              <a:latin typeface="Calibri"/>
              <a:ea typeface="Calibri"/>
              <a:cs typeface="Calibri"/>
              <a:sym typeface="Calibri"/>
            </a:endParaRPr>
          </a:p>
        </p:txBody>
      </p:sp>
      <p:sp>
        <p:nvSpPr>
          <p:cNvPr id="131" name="Google Shape;131;p7"/>
          <p:cNvSpPr/>
          <p:nvPr/>
        </p:nvSpPr>
        <p:spPr>
          <a:xfrm>
            <a:off x="2560320" y="1874520"/>
            <a:ext cx="1051560" cy="1051560"/>
          </a:xfrm>
          <a:prstGeom prst="ellipse">
            <a:avLst/>
          </a:prstGeom>
          <a:solidFill>
            <a:srgbClr val="ECEBE4"/>
          </a:solidFill>
          <a:ln cap="flat" cmpd="sng" w="12700">
            <a:solidFill>
              <a:srgbClr val="ECEB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7"/>
          <p:cNvSpPr txBox="1"/>
          <p:nvPr/>
        </p:nvSpPr>
        <p:spPr>
          <a:xfrm>
            <a:off x="2560320" y="1874520"/>
            <a:ext cx="1051560" cy="10515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25%</a:t>
            </a:r>
            <a:endParaRPr b="0" i="0" sz="2000" u="none" cap="none" strike="noStrike">
              <a:solidFill>
                <a:schemeClr val="dk1"/>
              </a:solidFill>
              <a:latin typeface="Calibri"/>
              <a:ea typeface="Calibri"/>
              <a:cs typeface="Calibri"/>
              <a:sym typeface="Calibri"/>
            </a:endParaRPr>
          </a:p>
        </p:txBody>
      </p:sp>
      <p:sp>
        <p:nvSpPr>
          <p:cNvPr id="133" name="Google Shape;133;p7"/>
          <p:cNvSpPr txBox="1"/>
          <p:nvPr/>
        </p:nvSpPr>
        <p:spPr>
          <a:xfrm>
            <a:off x="2286000" y="2971800"/>
            <a:ext cx="1645920" cy="4114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Classifier confidence</a:t>
            </a:r>
            <a:endParaRPr b="0" i="0" sz="1100" u="none" cap="none" strike="noStrike">
              <a:solidFill>
                <a:schemeClr val="dk1"/>
              </a:solidFill>
              <a:latin typeface="Calibri"/>
              <a:ea typeface="Calibri"/>
              <a:cs typeface="Calibri"/>
              <a:sym typeface="Calibri"/>
            </a:endParaRPr>
          </a:p>
        </p:txBody>
      </p:sp>
      <p:sp>
        <p:nvSpPr>
          <p:cNvPr id="134" name="Google Shape;134;p7"/>
          <p:cNvSpPr/>
          <p:nvPr/>
        </p:nvSpPr>
        <p:spPr>
          <a:xfrm>
            <a:off x="777240" y="3474720"/>
            <a:ext cx="1051560" cy="1051560"/>
          </a:xfrm>
          <a:prstGeom prst="ellipse">
            <a:avLst/>
          </a:prstGeom>
          <a:solidFill>
            <a:srgbClr val="ECEBE4"/>
          </a:solidFill>
          <a:ln cap="flat" cmpd="sng" w="12700">
            <a:solidFill>
              <a:srgbClr val="ECEB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7"/>
          <p:cNvSpPr txBox="1"/>
          <p:nvPr/>
        </p:nvSpPr>
        <p:spPr>
          <a:xfrm>
            <a:off x="777240" y="3474720"/>
            <a:ext cx="1051560" cy="10515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25%</a:t>
            </a:r>
            <a:endParaRPr b="0" i="0" sz="2000" u="none" cap="none" strike="noStrike">
              <a:solidFill>
                <a:schemeClr val="dk1"/>
              </a:solidFill>
              <a:latin typeface="Calibri"/>
              <a:ea typeface="Calibri"/>
              <a:cs typeface="Calibri"/>
              <a:sym typeface="Calibri"/>
            </a:endParaRPr>
          </a:p>
        </p:txBody>
      </p:sp>
      <p:sp>
        <p:nvSpPr>
          <p:cNvPr id="136" name="Google Shape;136;p7"/>
          <p:cNvSpPr txBox="1"/>
          <p:nvPr/>
        </p:nvSpPr>
        <p:spPr>
          <a:xfrm>
            <a:off x="502920" y="4572000"/>
            <a:ext cx="1645920" cy="4114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Independent sources</a:t>
            </a:r>
            <a:endParaRPr b="0" i="0" sz="1100" u="none" cap="none" strike="noStrike">
              <a:solidFill>
                <a:schemeClr val="dk1"/>
              </a:solidFill>
              <a:latin typeface="Calibri"/>
              <a:ea typeface="Calibri"/>
              <a:cs typeface="Calibri"/>
              <a:sym typeface="Calibri"/>
            </a:endParaRPr>
          </a:p>
        </p:txBody>
      </p:sp>
      <p:sp>
        <p:nvSpPr>
          <p:cNvPr id="137" name="Google Shape;137;p7"/>
          <p:cNvSpPr/>
          <p:nvPr/>
        </p:nvSpPr>
        <p:spPr>
          <a:xfrm>
            <a:off x="2560320" y="3474720"/>
            <a:ext cx="1051560" cy="1051560"/>
          </a:xfrm>
          <a:prstGeom prst="ellipse">
            <a:avLst/>
          </a:prstGeom>
          <a:solidFill>
            <a:srgbClr val="ECEBE4"/>
          </a:solidFill>
          <a:ln cap="flat" cmpd="sng" w="12700">
            <a:solidFill>
              <a:srgbClr val="ECEB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7"/>
          <p:cNvSpPr txBox="1"/>
          <p:nvPr/>
        </p:nvSpPr>
        <p:spPr>
          <a:xfrm>
            <a:off x="2560320" y="3474720"/>
            <a:ext cx="1051560" cy="10515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2000"/>
              <a:buFont typeface="Arial"/>
              <a:buNone/>
            </a:pPr>
            <a:r>
              <a:rPr b="1" i="0" lang="en-US" sz="2000" u="none" cap="none" strike="noStrike">
                <a:solidFill>
                  <a:srgbClr val="000000"/>
                </a:solidFill>
                <a:latin typeface="Arial"/>
                <a:ea typeface="Arial"/>
                <a:cs typeface="Arial"/>
                <a:sym typeface="Arial"/>
              </a:rPr>
              <a:t>15%</a:t>
            </a:r>
            <a:endParaRPr b="0" i="0" sz="2000" u="none" cap="none" strike="noStrike">
              <a:solidFill>
                <a:schemeClr val="dk1"/>
              </a:solidFill>
              <a:latin typeface="Calibri"/>
              <a:ea typeface="Calibri"/>
              <a:cs typeface="Calibri"/>
              <a:sym typeface="Calibri"/>
            </a:endParaRPr>
          </a:p>
        </p:txBody>
      </p:sp>
      <p:sp>
        <p:nvSpPr>
          <p:cNvPr id="139" name="Google Shape;139;p7"/>
          <p:cNvSpPr txBox="1"/>
          <p:nvPr/>
        </p:nvSpPr>
        <p:spPr>
          <a:xfrm>
            <a:off x="2286000" y="4572000"/>
            <a:ext cx="1645920" cy="4114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Recency (30-day half-life)</a:t>
            </a:r>
            <a:endParaRPr b="0" i="0" sz="1100" u="none" cap="none" strike="noStrike">
              <a:solidFill>
                <a:schemeClr val="dk1"/>
              </a:solidFill>
              <a:latin typeface="Calibri"/>
              <a:ea typeface="Calibri"/>
              <a:cs typeface="Calibri"/>
              <a:sym typeface="Calibri"/>
            </a:endParaRPr>
          </a:p>
        </p:txBody>
      </p:sp>
      <p:sp>
        <p:nvSpPr>
          <p:cNvPr id="140" name="Google Shape;140;p7"/>
          <p:cNvSpPr txBox="1"/>
          <p:nvPr/>
        </p:nvSpPr>
        <p:spPr>
          <a:xfrm>
            <a:off x="4379976" y="1874520"/>
            <a:ext cx="35661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F7F7F"/>
              </a:buClr>
              <a:buSzPts val="1200"/>
              <a:buFont typeface="Arial"/>
              <a:buNone/>
            </a:pPr>
            <a:r>
              <a:rPr b="0" i="1" lang="en-US" sz="1200" u="none" cap="none" strike="noStrike">
                <a:solidFill>
                  <a:srgbClr val="7F7F7F"/>
                </a:solidFill>
                <a:latin typeface="Arial"/>
                <a:ea typeface="Arial"/>
                <a:cs typeface="Arial"/>
                <a:sym typeface="Arial"/>
              </a:rPr>
              <a:t>Base impact by category</a:t>
            </a:r>
            <a:endParaRPr b="0" i="0" sz="1200" u="none" cap="none" strike="noStrike">
              <a:solidFill>
                <a:schemeClr val="dk1"/>
              </a:solidFill>
              <a:latin typeface="Calibri"/>
              <a:ea typeface="Calibri"/>
              <a:cs typeface="Calibri"/>
              <a:sym typeface="Calibri"/>
            </a:endParaRPr>
          </a:p>
        </p:txBody>
      </p:sp>
      <p:graphicFrame>
        <p:nvGraphicFramePr>
          <p:cNvPr id="141" name="Google Shape;141;p7"/>
          <p:cNvGraphicFramePr/>
          <p:nvPr/>
        </p:nvGraphicFramePr>
        <p:xfrm>
          <a:off x="4379976" y="2194560"/>
          <a:ext cx="3000000" cy="3000000"/>
        </p:xfrm>
        <a:graphic>
          <a:graphicData uri="http://schemas.openxmlformats.org/drawingml/2006/table">
            <a:tbl>
              <a:tblPr>
                <a:noFill/>
                <a:tableStyleId>{952ADB60-F521-4B44-9BCE-6ACEAE689FEF}</a:tableStyleId>
              </a:tblPr>
              <a:tblGrid>
                <a:gridCol w="2926075"/>
                <a:gridCol w="640075"/>
              </a:tblGrid>
              <a:tr h="365750">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Cyber, </a:t>
                      </a:r>
                      <a:r>
                        <a:rPr lang="en-US" sz="1200"/>
                        <a:t>C</a:t>
                      </a:r>
                      <a:r>
                        <a:rPr lang="en-US" sz="1200" u="none" cap="none" strike="noStrike">
                          <a:solidFill>
                            <a:srgbClr val="000000"/>
                          </a:solidFill>
                          <a:latin typeface="Arial"/>
                          <a:ea typeface="Arial"/>
                          <a:cs typeface="Arial"/>
                          <a:sym typeface="Arial"/>
                        </a:rPr>
                        <a:t>ompliance</a:t>
                      </a:r>
                      <a:endParaRPr sz="12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r">
                        <a:spcBef>
                          <a:spcPts val="0"/>
                        </a:spcBef>
                        <a:spcAft>
                          <a:spcPts val="0"/>
                        </a:spcAft>
                        <a:buClr>
                          <a:srgbClr val="000000"/>
                        </a:buClr>
                        <a:buSzPts val="1200"/>
                        <a:buFont typeface="Arial"/>
                        <a:buNone/>
                      </a:pPr>
                      <a:r>
                        <a:rPr b="1" lang="en-US" sz="1200" u="none" cap="none" strike="noStrike">
                          <a:solidFill>
                            <a:srgbClr val="000000"/>
                          </a:solidFill>
                          <a:latin typeface="Arial"/>
                          <a:ea typeface="Arial"/>
                          <a:cs typeface="Arial"/>
                          <a:sym typeface="Arial"/>
                        </a:rPr>
                        <a:t>4</a:t>
                      </a:r>
                      <a:endParaRPr sz="12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r>
              <a:tr h="365750">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Financial, </a:t>
                      </a:r>
                      <a:r>
                        <a:rPr lang="en-US" sz="1200"/>
                        <a:t>O</a:t>
                      </a:r>
                      <a:r>
                        <a:rPr lang="en-US" sz="1200" u="none" cap="none" strike="noStrike">
                          <a:solidFill>
                            <a:srgbClr val="000000"/>
                          </a:solidFill>
                          <a:latin typeface="Arial"/>
                          <a:ea typeface="Arial"/>
                          <a:cs typeface="Arial"/>
                          <a:sym typeface="Arial"/>
                        </a:rPr>
                        <a:t>perational</a:t>
                      </a:r>
                      <a:endParaRPr sz="12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r">
                        <a:spcBef>
                          <a:spcPts val="0"/>
                        </a:spcBef>
                        <a:spcAft>
                          <a:spcPts val="0"/>
                        </a:spcAft>
                        <a:buClr>
                          <a:srgbClr val="000000"/>
                        </a:buClr>
                        <a:buSzPts val="1200"/>
                        <a:buFont typeface="Arial"/>
                        <a:buNone/>
                      </a:pPr>
                      <a:r>
                        <a:rPr b="1" lang="en-US" sz="1200" u="none" cap="none" strike="noStrike">
                          <a:solidFill>
                            <a:srgbClr val="000000"/>
                          </a:solidFill>
                          <a:latin typeface="Arial"/>
                          <a:ea typeface="Arial"/>
                          <a:cs typeface="Arial"/>
                          <a:sym typeface="Arial"/>
                        </a:rPr>
                        <a:t>3</a:t>
                      </a:r>
                      <a:endParaRPr sz="12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r>
              <a:tr h="365750">
                <a:tc>
                  <a:txBody>
                    <a:bodyPr/>
                    <a:lstStyle/>
                    <a:p>
                      <a:pPr indent="0" lvl="0" marL="0" marR="0" rtl="0" algn="l">
                        <a:spcBef>
                          <a:spcPts val="0"/>
                        </a:spcBef>
                        <a:spcAft>
                          <a:spcPts val="0"/>
                        </a:spcAft>
                        <a:buClr>
                          <a:srgbClr val="000000"/>
                        </a:buClr>
                        <a:buSzPts val="1200"/>
                        <a:buFont typeface="Arial"/>
                        <a:buNone/>
                      </a:pPr>
                      <a:r>
                        <a:rPr lang="en-US" sz="1200"/>
                        <a:t>Conduct</a:t>
                      </a:r>
                      <a:endParaRPr sz="12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r">
                        <a:spcBef>
                          <a:spcPts val="0"/>
                        </a:spcBef>
                        <a:spcAft>
                          <a:spcPts val="0"/>
                        </a:spcAft>
                        <a:buClr>
                          <a:srgbClr val="000000"/>
                        </a:buClr>
                        <a:buSzPts val="1200"/>
                        <a:buFont typeface="Arial"/>
                        <a:buNone/>
                      </a:pPr>
                      <a:r>
                        <a:rPr b="1" lang="en-US" sz="1200" u="none" cap="none" strike="noStrike">
                          <a:solidFill>
                            <a:srgbClr val="000000"/>
                          </a:solidFill>
                          <a:latin typeface="Arial"/>
                          <a:ea typeface="Arial"/>
                          <a:cs typeface="Arial"/>
                          <a:sym typeface="Arial"/>
                        </a:rPr>
                        <a:t>2</a:t>
                      </a:r>
                      <a:endParaRPr sz="12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r>
            </a:tbl>
          </a:graphicData>
        </a:graphic>
      </p:graphicFrame>
      <p:sp>
        <p:nvSpPr>
          <p:cNvPr id="142" name="Google Shape;142;p7"/>
          <p:cNvSpPr txBox="1"/>
          <p:nvPr/>
        </p:nvSpPr>
        <p:spPr>
          <a:xfrm>
            <a:off x="4379976" y="3429000"/>
            <a:ext cx="3566160" cy="16459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Adjusted for profiled risk:</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Vendor criticality (−1 to +1)</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Data access, for cyber and privacy (−1 to +1)</a:t>
            </a:r>
            <a:endParaRPr b="0" i="0" sz="1200" u="none" cap="none" strike="noStrike">
              <a:solidFill>
                <a:schemeClr val="dk1"/>
              </a:solidFill>
              <a:latin typeface="Calibri"/>
              <a:ea typeface="Calibri"/>
              <a:cs typeface="Calibri"/>
              <a:sym typeface="Calibri"/>
            </a:endParaRPr>
          </a:p>
          <a:p>
            <a:pPr indent="-342900" lvl="0" marL="342900" marR="0" rtl="0" algn="l">
              <a:spcBef>
                <a:spcPts val="400"/>
              </a:spcBef>
              <a:spcAft>
                <a:spcPts val="0"/>
              </a:spcAft>
              <a:buClr>
                <a:srgbClr val="000000"/>
              </a:buClr>
              <a:buSzPts val="1200"/>
              <a:buFont typeface="Arial"/>
              <a:buChar char="•"/>
            </a:pPr>
            <a:r>
              <a:rPr b="0" i="0" lang="en-US" sz="1200" u="none" cap="none" strike="noStrike">
                <a:solidFill>
                  <a:srgbClr val="000000"/>
                </a:solidFill>
                <a:latin typeface="Arial"/>
                <a:ea typeface="Arial"/>
                <a:cs typeface="Arial"/>
                <a:sym typeface="Arial"/>
              </a:rPr>
              <a:t>Sole-source supplier, for operational and financial (+0.5)</a:t>
            </a:r>
            <a:endParaRPr b="0" i="0" sz="1200" u="none" cap="none" strike="noStrike">
              <a:solidFill>
                <a:schemeClr val="dk1"/>
              </a:solidFill>
              <a:latin typeface="Calibri"/>
              <a:ea typeface="Calibri"/>
              <a:cs typeface="Calibri"/>
              <a:sym typeface="Calibri"/>
            </a:endParaRPr>
          </a:p>
        </p:txBody>
      </p:sp>
      <p:sp>
        <p:nvSpPr>
          <p:cNvPr id="143" name="Google Shape;143;p7"/>
          <p:cNvSpPr txBox="1"/>
          <p:nvPr/>
        </p:nvSpPr>
        <p:spPr>
          <a:xfrm>
            <a:off x="8257032" y="1874520"/>
            <a:ext cx="356616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7F7F7F"/>
              </a:buClr>
              <a:buSzPts val="1200"/>
              <a:buFont typeface="Arial"/>
              <a:buNone/>
            </a:pPr>
            <a:r>
              <a:rPr b="0" i="1" lang="en-US" sz="1200" u="none" cap="none" strike="noStrike">
                <a:solidFill>
                  <a:srgbClr val="7F7F7F"/>
                </a:solidFill>
                <a:latin typeface="Arial"/>
                <a:ea typeface="Arial"/>
                <a:cs typeface="Arial"/>
                <a:sym typeface="Arial"/>
              </a:rPr>
              <a:t>Control reduction</a:t>
            </a:r>
            <a:endParaRPr b="0" i="0" sz="1200" u="none" cap="none" strike="noStrike">
              <a:solidFill>
                <a:schemeClr val="dk1"/>
              </a:solidFill>
              <a:latin typeface="Calibri"/>
              <a:ea typeface="Calibri"/>
              <a:cs typeface="Calibri"/>
              <a:sym typeface="Calibri"/>
            </a:endParaRPr>
          </a:p>
        </p:txBody>
      </p:sp>
      <p:graphicFrame>
        <p:nvGraphicFramePr>
          <p:cNvPr id="144" name="Google Shape;144;p7"/>
          <p:cNvGraphicFramePr/>
          <p:nvPr/>
        </p:nvGraphicFramePr>
        <p:xfrm>
          <a:off x="8257032" y="2194560"/>
          <a:ext cx="3000000" cy="3000000"/>
        </p:xfrm>
        <a:graphic>
          <a:graphicData uri="http://schemas.openxmlformats.org/drawingml/2006/table">
            <a:tbl>
              <a:tblPr>
                <a:noFill/>
                <a:tableStyleId>{952ADB60-F521-4B44-9BCE-6ACEAE689FEF}</a:tableStyleId>
              </a:tblPr>
              <a:tblGrid>
                <a:gridCol w="1188725"/>
                <a:gridCol w="2377450"/>
              </a:tblGrid>
              <a:tr h="365750">
                <a:tc>
                  <a:txBody>
                    <a:bodyPr/>
                    <a:lstStyle/>
                    <a:p>
                      <a:pPr indent="0" lvl="0" marL="0" marR="0" rtl="0" algn="l">
                        <a:spcBef>
                          <a:spcPts val="0"/>
                        </a:spcBef>
                        <a:spcAft>
                          <a:spcPts val="0"/>
                        </a:spcAft>
                        <a:buClr>
                          <a:srgbClr val="000000"/>
                        </a:buClr>
                        <a:buSzPts val="1200"/>
                        <a:buFont typeface="Arial"/>
                        <a:buNone/>
                      </a:pPr>
                      <a:r>
                        <a:rPr b="1" lang="en-US" sz="1200" u="none" cap="none" strike="noStrike">
                          <a:solidFill>
                            <a:srgbClr val="000000"/>
                          </a:solidFill>
                          <a:latin typeface="Arial"/>
                          <a:ea typeface="Arial"/>
                          <a:cs typeface="Arial"/>
                          <a:sym typeface="Arial"/>
                        </a:rPr>
                        <a:t>SOC 2</a:t>
                      </a:r>
                      <a:endParaRPr sz="12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−15% cyber, −10% privacy</a:t>
                      </a:r>
                      <a:endParaRPr sz="12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r>
              <a:tr h="365750">
                <a:tc>
                  <a:txBody>
                    <a:bodyPr/>
                    <a:lstStyle/>
                    <a:p>
                      <a:pPr indent="0" lvl="0" marL="0" marR="0" rtl="0" algn="l">
                        <a:spcBef>
                          <a:spcPts val="0"/>
                        </a:spcBef>
                        <a:spcAft>
                          <a:spcPts val="0"/>
                        </a:spcAft>
                        <a:buClr>
                          <a:srgbClr val="000000"/>
                        </a:buClr>
                        <a:buSzPts val="1200"/>
                        <a:buFont typeface="Arial"/>
                        <a:buNone/>
                      </a:pPr>
                      <a:r>
                        <a:rPr b="1" lang="en-US" sz="1200" u="none" cap="none" strike="noStrike">
                          <a:solidFill>
                            <a:srgbClr val="000000"/>
                          </a:solidFill>
                          <a:latin typeface="Arial"/>
                          <a:ea typeface="Arial"/>
                          <a:cs typeface="Arial"/>
                          <a:sym typeface="Arial"/>
                        </a:rPr>
                        <a:t>ISO 27001</a:t>
                      </a:r>
                      <a:endParaRPr sz="12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−10% cyber and privacy</a:t>
                      </a:r>
                      <a:endParaRPr sz="12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r>
              <a:tr h="365750">
                <a:tc>
                  <a:txBody>
                    <a:bodyPr/>
                    <a:lstStyle/>
                    <a:p>
                      <a:pPr indent="0" lvl="0" marL="0" marR="0" rtl="0" algn="l">
                        <a:spcBef>
                          <a:spcPts val="0"/>
                        </a:spcBef>
                        <a:spcAft>
                          <a:spcPts val="0"/>
                        </a:spcAft>
                        <a:buClr>
                          <a:srgbClr val="000000"/>
                        </a:buClr>
                        <a:buSzPts val="1200"/>
                        <a:buFont typeface="Arial"/>
                        <a:buNone/>
                      </a:pPr>
                      <a:r>
                        <a:rPr b="1" lang="en-US" sz="1200" u="none" cap="none" strike="noStrike">
                          <a:solidFill>
                            <a:srgbClr val="000000"/>
                          </a:solidFill>
                          <a:latin typeface="Arial"/>
                          <a:ea typeface="Arial"/>
                          <a:cs typeface="Arial"/>
                          <a:sym typeface="Arial"/>
                        </a:rPr>
                        <a:t>Tested BCP</a:t>
                      </a:r>
                      <a:endParaRPr sz="12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200"/>
                        <a:buFont typeface="Arial"/>
                        <a:buNone/>
                      </a:pPr>
                      <a:r>
                        <a:rPr lang="en-US" sz="1200" u="none" cap="none" strike="noStrike">
                          <a:solidFill>
                            <a:srgbClr val="000000"/>
                          </a:solidFill>
                          <a:latin typeface="Arial"/>
                          <a:ea typeface="Arial"/>
                          <a:cs typeface="Arial"/>
                          <a:sym typeface="Arial"/>
                        </a:rPr>
                        <a:t>−20% operational</a:t>
                      </a:r>
                      <a:endParaRPr sz="12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r>
            </a:tbl>
          </a:graphicData>
        </a:graphic>
      </p:graphicFrame>
      <p:sp>
        <p:nvSpPr>
          <p:cNvPr id="145" name="Google Shape;145;p7"/>
          <p:cNvSpPr txBox="1"/>
          <p:nvPr/>
        </p:nvSpPr>
        <p:spPr>
          <a:xfrm>
            <a:off x="8257032" y="3429000"/>
            <a:ext cx="3566160" cy="7315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Total reduction is capped at 30%, so residual risk never reaches zero.</a:t>
            </a:r>
            <a:endParaRPr b="0" i="0" sz="1200" u="none" cap="none" strike="noStrike">
              <a:solidFill>
                <a:schemeClr val="dk1"/>
              </a:solidFill>
              <a:latin typeface="Calibri"/>
              <a:ea typeface="Calibri"/>
              <a:cs typeface="Calibri"/>
              <a:sym typeface="Calibri"/>
            </a:endParaRPr>
          </a:p>
        </p:txBody>
      </p:sp>
      <p:sp>
        <p:nvSpPr>
          <p:cNvPr id="146" name="Google Shape;146;p7"/>
          <p:cNvSpPr/>
          <p:nvPr/>
        </p:nvSpPr>
        <p:spPr>
          <a:xfrm>
            <a:off x="502920" y="5303520"/>
            <a:ext cx="11183112" cy="731520"/>
          </a:xfrm>
          <a:prstGeom prst="rect">
            <a:avLst/>
          </a:prstGeom>
          <a:solidFill>
            <a:srgbClr val="ECEBE4"/>
          </a:solidFill>
          <a:ln cap="flat" cmpd="sng" w="12700">
            <a:solidFill>
              <a:srgbClr val="ECEB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7"/>
          <p:cNvSpPr txBox="1"/>
          <p:nvPr/>
        </p:nvSpPr>
        <p:spPr>
          <a:xfrm>
            <a:off x="502920" y="5303520"/>
            <a:ext cx="11183112"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Residual risk  =  Likelihood  ×  Impact  ×  (1 − control reduction)</a:t>
            </a:r>
            <a:endParaRPr b="0" i="0" sz="1800" u="none" cap="none" strike="noStrike">
              <a:solidFill>
                <a:schemeClr val="dk1"/>
              </a:solidFill>
              <a:latin typeface="Calibri"/>
              <a:ea typeface="Calibri"/>
              <a:cs typeface="Calibri"/>
              <a:sym typeface="Calibri"/>
            </a:endParaRPr>
          </a:p>
        </p:txBody>
      </p:sp>
      <p:sp>
        <p:nvSpPr>
          <p:cNvPr id="148" name="Google Shape;148;p7"/>
          <p:cNvSpPr txBox="1"/>
          <p:nvPr>
            <p:ph idx="4294967295" type="sldNum"/>
          </p:nvPr>
        </p:nvSpPr>
        <p:spPr>
          <a:xfrm>
            <a:off x="11247120" y="6400800"/>
            <a:ext cx="4389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800" u="none" cap="none" strike="noStrike">
                <a:solidFill>
                  <a:srgbClr val="7F7F7F"/>
                </a:solidFill>
                <a:latin typeface="Arial"/>
                <a:ea typeface="Arial"/>
                <a:cs typeface="Arial"/>
                <a:sym typeface="Arial"/>
              </a:rPr>
              <a:t>‹#›</a:t>
            </a:fld>
            <a:endParaRPr b="0" i="0" sz="800" u="none" cap="none" strike="noStrike">
              <a:solidFill>
                <a:srgbClr val="7F7F7F"/>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p8"/>
          <p:cNvSpPr txBox="1"/>
          <p:nvPr/>
        </p:nvSpPr>
        <p:spPr>
          <a:xfrm>
            <a:off x="502920" y="365760"/>
            <a:ext cx="11183112"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The category decides who acts, the tier decides how fast</a:t>
            </a:r>
            <a:endParaRPr b="0" i="0" sz="2800" u="none" cap="none" strike="noStrike">
              <a:solidFill>
                <a:schemeClr val="dk1"/>
              </a:solidFill>
              <a:latin typeface="Calibri"/>
              <a:ea typeface="Calibri"/>
              <a:cs typeface="Calibri"/>
              <a:sym typeface="Calibri"/>
            </a:endParaRPr>
          </a:p>
        </p:txBody>
      </p:sp>
      <p:sp>
        <p:nvSpPr>
          <p:cNvPr id="155" name="Google Shape;155;p8"/>
          <p:cNvSpPr txBox="1"/>
          <p:nvPr/>
        </p:nvSpPr>
        <p:spPr>
          <a:xfrm>
            <a:off x="502920" y="1280160"/>
            <a:ext cx="6675120" cy="32004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E60000"/>
              </a:buClr>
              <a:buSzPts val="1500"/>
              <a:buFont typeface="Arial"/>
              <a:buNone/>
            </a:pPr>
            <a:r>
              <a:rPr b="0" i="0" lang="en-US" sz="1500" u="none" cap="none" strike="noStrike">
                <a:solidFill>
                  <a:srgbClr val="E60000"/>
                </a:solidFill>
                <a:latin typeface="Arial"/>
                <a:ea typeface="Arial"/>
                <a:cs typeface="Arial"/>
                <a:sym typeface="Arial"/>
              </a:rPr>
              <a:t>Tier (residual risk)</a:t>
            </a:r>
            <a:endParaRPr b="0" i="0" sz="1500" u="none" cap="none" strike="noStrike">
              <a:solidFill>
                <a:schemeClr val="dk1"/>
              </a:solidFill>
              <a:latin typeface="Calibri"/>
              <a:ea typeface="Calibri"/>
              <a:cs typeface="Calibri"/>
              <a:sym typeface="Calibri"/>
            </a:endParaRPr>
          </a:p>
        </p:txBody>
      </p:sp>
      <p:cxnSp>
        <p:nvCxnSpPr>
          <p:cNvPr id="156" name="Google Shape;156;p8"/>
          <p:cNvCxnSpPr/>
          <p:nvPr/>
        </p:nvCxnSpPr>
        <p:spPr>
          <a:xfrm>
            <a:off x="502920" y="1664208"/>
            <a:ext cx="6675120" cy="0"/>
          </a:xfrm>
          <a:prstGeom prst="straightConnector1">
            <a:avLst/>
          </a:prstGeom>
          <a:noFill/>
          <a:ln cap="flat" cmpd="sng" w="9525">
            <a:solidFill>
              <a:srgbClr val="BFBFBF"/>
            </a:solidFill>
            <a:prstDash val="solid"/>
            <a:round/>
            <a:headEnd len="sm" w="sm" type="none"/>
            <a:tailEnd len="sm" w="sm" type="none"/>
          </a:ln>
        </p:spPr>
      </p:cxnSp>
      <p:graphicFrame>
        <p:nvGraphicFramePr>
          <p:cNvPr id="157" name="Google Shape;157;p8"/>
          <p:cNvGraphicFramePr/>
          <p:nvPr/>
        </p:nvGraphicFramePr>
        <p:xfrm>
          <a:off x="502920" y="1828800"/>
          <a:ext cx="3000000" cy="3000000"/>
        </p:xfrm>
        <a:graphic>
          <a:graphicData uri="http://schemas.openxmlformats.org/drawingml/2006/table">
            <a:tbl>
              <a:tblPr>
                <a:noFill/>
                <a:tableStyleId>{952ADB60-F521-4B44-9BCE-6ACEAE689FEF}</a:tableStyleId>
              </a:tblPr>
              <a:tblGrid>
                <a:gridCol w="1005850"/>
                <a:gridCol w="914400"/>
                <a:gridCol w="3749050"/>
                <a:gridCol w="1005850"/>
              </a:tblGrid>
              <a:tr h="566925">
                <a:tc>
                  <a:txBody>
                    <a:bodyPr/>
                    <a:lstStyle/>
                    <a:p>
                      <a:pPr indent="0" lvl="0" marL="0" marR="0" rtl="0" algn="l">
                        <a:spcBef>
                          <a:spcPts val="0"/>
                        </a:spcBef>
                        <a:spcAft>
                          <a:spcPts val="0"/>
                        </a:spcAft>
                        <a:buClr>
                          <a:srgbClr val="7F7F7F"/>
                        </a:buClr>
                        <a:buSzPts val="1000"/>
                        <a:buFont typeface="Arial"/>
                        <a:buNone/>
                      </a:pPr>
                      <a:r>
                        <a:rPr i="1" lang="en-US" sz="1000" u="none" cap="none" strike="noStrike">
                          <a:solidFill>
                            <a:srgbClr val="7F7F7F"/>
                          </a:solidFill>
                          <a:latin typeface="Arial"/>
                          <a:ea typeface="Arial"/>
                          <a:cs typeface="Arial"/>
                          <a:sym typeface="Arial"/>
                        </a:rPr>
                        <a:t>Tier</a:t>
                      </a:r>
                      <a:endParaRPr sz="10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7F7F7F"/>
                        </a:buClr>
                        <a:buSzPts val="1000"/>
                        <a:buFont typeface="Arial"/>
                        <a:buNone/>
                      </a:pPr>
                      <a:r>
                        <a:rPr i="1" lang="en-US" sz="1000" u="none" cap="none" strike="noStrike">
                          <a:solidFill>
                            <a:srgbClr val="7F7F7F"/>
                          </a:solidFill>
                          <a:latin typeface="Arial"/>
                          <a:ea typeface="Arial"/>
                          <a:cs typeface="Arial"/>
                          <a:sym typeface="Arial"/>
                        </a:rPr>
                        <a:t>Score</a:t>
                      </a:r>
                      <a:endParaRPr sz="10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7F7F7F"/>
                        </a:buClr>
                        <a:buSzPts val="1000"/>
                        <a:buFont typeface="Arial"/>
                        <a:buNone/>
                      </a:pPr>
                      <a:r>
                        <a:rPr i="1" lang="en-US" sz="1000" u="none" cap="none" strike="noStrike">
                          <a:solidFill>
                            <a:srgbClr val="7F7F7F"/>
                          </a:solidFill>
                          <a:latin typeface="Arial"/>
                          <a:ea typeface="Arial"/>
                          <a:cs typeface="Arial"/>
                          <a:sym typeface="Arial"/>
                        </a:rPr>
                        <a:t>Response</a:t>
                      </a:r>
                      <a:endParaRPr sz="10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7F7F7F"/>
                        </a:buClr>
                        <a:buSzPts val="1000"/>
                        <a:buFont typeface="Arial"/>
                        <a:buNone/>
                      </a:pPr>
                      <a:r>
                        <a:rPr i="1" lang="en-US" sz="1000" u="none" cap="none" strike="noStrike">
                          <a:solidFill>
                            <a:srgbClr val="7F7F7F"/>
                          </a:solidFill>
                          <a:latin typeface="Arial"/>
                          <a:ea typeface="Arial"/>
                          <a:cs typeface="Arial"/>
                          <a:sym typeface="Arial"/>
                        </a:rPr>
                        <a:t>Deadline</a:t>
                      </a:r>
                      <a:endParaRPr sz="10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r>
              <a:tr h="566925">
                <a:tc>
                  <a:txBody>
                    <a:bodyPr/>
                    <a:lstStyle/>
                    <a:p>
                      <a:pPr indent="0" lvl="0" marL="0" marR="0" rtl="0" algn="l">
                        <a:spcBef>
                          <a:spcPts val="0"/>
                        </a:spcBef>
                        <a:spcAft>
                          <a:spcPts val="0"/>
                        </a:spcAft>
                        <a:buClr>
                          <a:srgbClr val="E60000"/>
                        </a:buClr>
                        <a:buSzPts val="1100"/>
                        <a:buFont typeface="Arial"/>
                        <a:buNone/>
                      </a:pPr>
                      <a:r>
                        <a:rPr b="1" lang="en-US" sz="1100" u="none" cap="none" strike="noStrike">
                          <a:solidFill>
                            <a:srgbClr val="E60000"/>
                          </a:solidFill>
                          <a:latin typeface="Arial"/>
                          <a:ea typeface="Arial"/>
                          <a:cs typeface="Arial"/>
                          <a:sym typeface="Arial"/>
                        </a:rPr>
                        <a:t>Critical</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 16</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Escalate, open incident, human review before vendor contact</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24 h</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r>
              <a:tr h="566925">
                <a:tc>
                  <a:txBody>
                    <a:bodyPr/>
                    <a:lstStyle/>
                    <a:p>
                      <a:pPr indent="0" lvl="0" marL="0" marR="0" rtl="0" algn="l">
                        <a:spcBef>
                          <a:spcPts val="0"/>
                        </a:spcBef>
                        <a:spcAft>
                          <a:spcPts val="0"/>
                        </a:spcAft>
                        <a:buClr>
                          <a:srgbClr val="000000"/>
                        </a:buClr>
                        <a:buSzPts val="1100"/>
                        <a:buFont typeface="Arial"/>
                        <a:buNone/>
                      </a:pPr>
                      <a:r>
                        <a:rPr b="1" lang="en-US" sz="1100" u="none" cap="none" strike="noStrike">
                          <a:solidFill>
                            <a:srgbClr val="000000"/>
                          </a:solidFill>
                          <a:latin typeface="Arial"/>
                          <a:ea typeface="Arial"/>
                          <a:cs typeface="Arial"/>
                          <a:sym typeface="Arial"/>
                        </a:rPr>
                        <a:t>High</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10 – 16</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Notify owner team, request vendor statement</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72 h</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r>
              <a:tr h="566925">
                <a:tc>
                  <a:txBody>
                    <a:bodyPr/>
                    <a:lstStyle/>
                    <a:p>
                      <a:pPr indent="0" lvl="0" marL="0" marR="0" rtl="0" algn="l">
                        <a:spcBef>
                          <a:spcPts val="0"/>
                        </a:spcBef>
                        <a:spcAft>
                          <a:spcPts val="0"/>
                        </a:spcAft>
                        <a:buClr>
                          <a:srgbClr val="000000"/>
                        </a:buClr>
                        <a:buSzPts val="1100"/>
                        <a:buFont typeface="Arial"/>
                        <a:buNone/>
                      </a:pPr>
                      <a:r>
                        <a:rPr b="1" lang="en-US" sz="1100" u="none" cap="none" strike="noStrike">
                          <a:solidFill>
                            <a:srgbClr val="000000"/>
                          </a:solidFill>
                          <a:latin typeface="Arial"/>
                          <a:ea typeface="Arial"/>
                          <a:cs typeface="Arial"/>
                          <a:sym typeface="Arial"/>
                        </a:rPr>
                        <a:t>Medium</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5 – 10</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Add to watchlist, check at next monitoring cycle</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14 days</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r>
              <a:tr h="566925">
                <a:tc>
                  <a:txBody>
                    <a:bodyPr/>
                    <a:lstStyle/>
                    <a:p>
                      <a:pPr indent="0" lvl="0" marL="0" marR="0" rtl="0" algn="l">
                        <a:spcBef>
                          <a:spcPts val="0"/>
                        </a:spcBef>
                        <a:spcAft>
                          <a:spcPts val="0"/>
                        </a:spcAft>
                        <a:buClr>
                          <a:srgbClr val="000000"/>
                        </a:buClr>
                        <a:buSzPts val="1100"/>
                        <a:buFont typeface="Arial"/>
                        <a:buNone/>
                      </a:pPr>
                      <a:r>
                        <a:rPr b="1" lang="en-US" sz="1100" u="none" cap="none" strike="noStrike">
                          <a:solidFill>
                            <a:srgbClr val="000000"/>
                          </a:solidFill>
                          <a:latin typeface="Arial"/>
                          <a:ea typeface="Arial"/>
                          <a:cs typeface="Arial"/>
                          <a:sym typeface="Arial"/>
                        </a:rPr>
                        <a:t>Low</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&lt; 5</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Log only, review at scheduled reassessment</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r>
            </a:tbl>
          </a:graphicData>
        </a:graphic>
      </p:graphicFrame>
      <p:sp>
        <p:nvSpPr>
          <p:cNvPr id="158" name="Google Shape;158;p8"/>
          <p:cNvSpPr txBox="1"/>
          <p:nvPr/>
        </p:nvSpPr>
        <p:spPr>
          <a:xfrm>
            <a:off x="502920" y="4892040"/>
            <a:ext cx="667512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200"/>
              <a:buFont typeface="Arial"/>
              <a:buNone/>
            </a:pPr>
            <a:r>
              <a:rPr b="0" i="1" lang="en-US" sz="1200" u="none" cap="none" strike="noStrike">
                <a:solidFill>
                  <a:srgbClr val="000000"/>
                </a:solidFill>
                <a:latin typeface="Arial"/>
                <a:ea typeface="Arial"/>
                <a:cs typeface="Arial"/>
                <a:sym typeface="Arial"/>
              </a:rPr>
              <a:t>Signals with classifier confidence below 0.6 are capped at Medium until a person confirms them.</a:t>
            </a:r>
            <a:endParaRPr b="0" i="0" sz="1200" u="none" cap="none" strike="noStrike">
              <a:solidFill>
                <a:schemeClr val="dk1"/>
              </a:solidFill>
              <a:latin typeface="Calibri"/>
              <a:ea typeface="Calibri"/>
              <a:cs typeface="Calibri"/>
              <a:sym typeface="Calibri"/>
            </a:endParaRPr>
          </a:p>
        </p:txBody>
      </p:sp>
      <p:sp>
        <p:nvSpPr>
          <p:cNvPr id="159" name="Google Shape;159;p8"/>
          <p:cNvSpPr txBox="1"/>
          <p:nvPr/>
        </p:nvSpPr>
        <p:spPr>
          <a:xfrm>
            <a:off x="7589520" y="1280160"/>
            <a:ext cx="4096512" cy="320040"/>
          </a:xfrm>
          <a:prstGeom prst="rect">
            <a:avLst/>
          </a:prstGeom>
          <a:noFill/>
          <a:ln>
            <a:noFill/>
          </a:ln>
        </p:spPr>
        <p:txBody>
          <a:bodyPr anchorCtr="0" anchor="b" bIns="0" lIns="0" spcFirstLastPara="1" rIns="0" wrap="square" tIns="0">
            <a:noAutofit/>
          </a:bodyPr>
          <a:lstStyle/>
          <a:p>
            <a:pPr indent="0" lvl="0" marL="0" marR="0" rtl="0" algn="l">
              <a:spcBef>
                <a:spcPts val="0"/>
              </a:spcBef>
              <a:spcAft>
                <a:spcPts val="0"/>
              </a:spcAft>
              <a:buClr>
                <a:srgbClr val="E60000"/>
              </a:buClr>
              <a:buSzPts val="1500"/>
              <a:buFont typeface="Arial"/>
              <a:buNone/>
            </a:pPr>
            <a:r>
              <a:rPr b="0" i="0" lang="en-US" sz="1500" u="none" cap="none" strike="noStrike">
                <a:solidFill>
                  <a:srgbClr val="E60000"/>
                </a:solidFill>
                <a:latin typeface="Arial"/>
                <a:ea typeface="Arial"/>
                <a:cs typeface="Arial"/>
                <a:sym typeface="Arial"/>
              </a:rPr>
              <a:t>Owner team (category)</a:t>
            </a:r>
            <a:endParaRPr b="0" i="0" sz="1500" u="none" cap="none" strike="noStrike">
              <a:solidFill>
                <a:schemeClr val="dk1"/>
              </a:solidFill>
              <a:latin typeface="Calibri"/>
              <a:ea typeface="Calibri"/>
              <a:cs typeface="Calibri"/>
              <a:sym typeface="Calibri"/>
            </a:endParaRPr>
          </a:p>
        </p:txBody>
      </p:sp>
      <p:cxnSp>
        <p:nvCxnSpPr>
          <p:cNvPr id="160" name="Google Shape;160;p8"/>
          <p:cNvCxnSpPr/>
          <p:nvPr/>
        </p:nvCxnSpPr>
        <p:spPr>
          <a:xfrm>
            <a:off x="7589520" y="1664208"/>
            <a:ext cx="4096512" cy="0"/>
          </a:xfrm>
          <a:prstGeom prst="straightConnector1">
            <a:avLst/>
          </a:prstGeom>
          <a:noFill/>
          <a:ln cap="flat" cmpd="sng" w="9525">
            <a:solidFill>
              <a:srgbClr val="BFBFBF"/>
            </a:solidFill>
            <a:prstDash val="solid"/>
            <a:round/>
            <a:headEnd len="sm" w="sm" type="none"/>
            <a:tailEnd len="sm" w="sm" type="none"/>
          </a:ln>
        </p:spPr>
      </p:cxnSp>
      <p:graphicFrame>
        <p:nvGraphicFramePr>
          <p:cNvPr id="161" name="Google Shape;161;p8"/>
          <p:cNvGraphicFramePr/>
          <p:nvPr/>
        </p:nvGraphicFramePr>
        <p:xfrm>
          <a:off x="7589520" y="1828800"/>
          <a:ext cx="3000000" cy="3000000"/>
        </p:xfrm>
        <a:graphic>
          <a:graphicData uri="http://schemas.openxmlformats.org/drawingml/2006/table">
            <a:tbl>
              <a:tblPr>
                <a:noFill/>
                <a:tableStyleId>{952ADB60-F521-4B44-9BCE-6ACEAE689FEF}</a:tableStyleId>
              </a:tblPr>
              <a:tblGrid>
                <a:gridCol w="1737350"/>
                <a:gridCol w="2359150"/>
              </a:tblGrid>
              <a:tr h="457200">
                <a:tc>
                  <a:txBody>
                    <a:bodyPr/>
                    <a:lstStyle/>
                    <a:p>
                      <a:pPr indent="0" lvl="0" marL="0" marR="0" rtl="0" algn="l">
                        <a:spcBef>
                          <a:spcPts val="0"/>
                        </a:spcBef>
                        <a:spcAft>
                          <a:spcPts val="0"/>
                        </a:spcAft>
                        <a:buClr>
                          <a:srgbClr val="7F7F7F"/>
                        </a:buClr>
                        <a:buSzPts val="1000"/>
                        <a:buFont typeface="Arial"/>
                        <a:buNone/>
                      </a:pPr>
                      <a:r>
                        <a:rPr i="1" lang="en-US" sz="1000" u="none" cap="none" strike="noStrike">
                          <a:solidFill>
                            <a:srgbClr val="7F7F7F"/>
                          </a:solidFill>
                          <a:latin typeface="Arial"/>
                          <a:ea typeface="Arial"/>
                          <a:cs typeface="Arial"/>
                          <a:sym typeface="Arial"/>
                        </a:rPr>
                        <a:t>Category</a:t>
                      </a:r>
                      <a:endParaRPr sz="10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7F7F7F"/>
                        </a:buClr>
                        <a:buSzPts val="1000"/>
                        <a:buFont typeface="Arial"/>
                        <a:buNone/>
                      </a:pPr>
                      <a:r>
                        <a:rPr i="1" lang="en-US" sz="1000" u="none" cap="none" strike="noStrike">
                          <a:solidFill>
                            <a:srgbClr val="7F7F7F"/>
                          </a:solidFill>
                          <a:latin typeface="Arial"/>
                          <a:ea typeface="Arial"/>
                          <a:cs typeface="Arial"/>
                          <a:sym typeface="Arial"/>
                        </a:rPr>
                        <a:t>Owner team</a:t>
                      </a:r>
                      <a:endParaRPr sz="10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r>
              <a:tr h="457200">
                <a:tc>
                  <a:txBody>
                    <a:bodyPr/>
                    <a:lstStyle/>
                    <a:p>
                      <a:pPr indent="0" lvl="0" marL="0" marR="0" rtl="0" algn="l">
                        <a:spcBef>
                          <a:spcPts val="0"/>
                        </a:spcBef>
                        <a:spcAft>
                          <a:spcPts val="0"/>
                        </a:spcAft>
                        <a:buClr>
                          <a:srgbClr val="000000"/>
                        </a:buClr>
                        <a:buSzPts val="1100"/>
                        <a:buFont typeface="Arial"/>
                        <a:buNone/>
                      </a:pPr>
                      <a:r>
                        <a:rPr b="1" lang="en-US" sz="1100" u="none" cap="none" strike="noStrike">
                          <a:solidFill>
                            <a:srgbClr val="000000"/>
                          </a:solidFill>
                          <a:latin typeface="Arial"/>
                          <a:ea typeface="Arial"/>
                          <a:cs typeface="Arial"/>
                          <a:sym typeface="Arial"/>
                        </a:rPr>
                        <a:t>Cyber</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Security &amp; IT</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r>
              <a:tr h="457200">
                <a:tc>
                  <a:txBody>
                    <a:bodyPr/>
                    <a:lstStyle/>
                    <a:p>
                      <a:pPr indent="0" lvl="0" marL="0" marR="0" rtl="0" algn="l">
                        <a:spcBef>
                          <a:spcPts val="0"/>
                        </a:spcBef>
                        <a:spcAft>
                          <a:spcPts val="0"/>
                        </a:spcAft>
                        <a:buClr>
                          <a:srgbClr val="000000"/>
                        </a:buClr>
                        <a:buSzPts val="1100"/>
                        <a:buFont typeface="Arial"/>
                        <a:buNone/>
                      </a:pPr>
                      <a:r>
                        <a:rPr b="1" lang="en-US" sz="1100" u="none" cap="none" strike="noStrike">
                          <a:solidFill>
                            <a:srgbClr val="000000"/>
                          </a:solidFill>
                          <a:latin typeface="Arial"/>
                          <a:ea typeface="Arial"/>
                          <a:cs typeface="Arial"/>
                          <a:sym typeface="Arial"/>
                        </a:rPr>
                        <a:t>Data privacy</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Data Privacy Office</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r>
              <a:tr h="457200">
                <a:tc>
                  <a:txBody>
                    <a:bodyPr/>
                    <a:lstStyle/>
                    <a:p>
                      <a:pPr indent="0" lvl="0" marL="0" marR="0" rtl="0" algn="l">
                        <a:spcBef>
                          <a:spcPts val="0"/>
                        </a:spcBef>
                        <a:spcAft>
                          <a:spcPts val="0"/>
                        </a:spcAft>
                        <a:buClr>
                          <a:srgbClr val="000000"/>
                        </a:buClr>
                        <a:buSzPts val="1100"/>
                        <a:buFont typeface="Arial"/>
                        <a:buNone/>
                      </a:pPr>
                      <a:r>
                        <a:rPr b="1" lang="en-US" sz="1100" u="none" cap="none" strike="noStrike">
                          <a:solidFill>
                            <a:srgbClr val="000000"/>
                          </a:solidFill>
                          <a:latin typeface="Arial"/>
                          <a:ea typeface="Arial"/>
                          <a:cs typeface="Arial"/>
                          <a:sym typeface="Arial"/>
                        </a:rPr>
                        <a:t>Compliance</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Audit &amp; Compliance</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r>
              <a:tr h="457200">
                <a:tc>
                  <a:txBody>
                    <a:bodyPr/>
                    <a:lstStyle/>
                    <a:p>
                      <a:pPr indent="0" lvl="0" marL="0" marR="0" rtl="0" algn="l">
                        <a:spcBef>
                          <a:spcPts val="0"/>
                        </a:spcBef>
                        <a:spcAft>
                          <a:spcPts val="0"/>
                        </a:spcAft>
                        <a:buClr>
                          <a:srgbClr val="000000"/>
                        </a:buClr>
                        <a:buSzPts val="1100"/>
                        <a:buFont typeface="Arial"/>
                        <a:buNone/>
                      </a:pPr>
                      <a:r>
                        <a:rPr b="1" lang="en-US" sz="1100" u="none" cap="none" strike="noStrike">
                          <a:solidFill>
                            <a:srgbClr val="000000"/>
                          </a:solidFill>
                          <a:latin typeface="Arial"/>
                          <a:ea typeface="Arial"/>
                          <a:cs typeface="Arial"/>
                          <a:sym typeface="Arial"/>
                        </a:rPr>
                        <a:t>Financial</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Procurement &amp; Vendor Mgmt</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r>
              <a:tr h="457200">
                <a:tc>
                  <a:txBody>
                    <a:bodyPr/>
                    <a:lstStyle/>
                    <a:p>
                      <a:pPr indent="0" lvl="0" marL="0" marR="0" rtl="0" algn="l">
                        <a:spcBef>
                          <a:spcPts val="0"/>
                        </a:spcBef>
                        <a:spcAft>
                          <a:spcPts val="0"/>
                        </a:spcAft>
                        <a:buClr>
                          <a:srgbClr val="000000"/>
                        </a:buClr>
                        <a:buSzPts val="1100"/>
                        <a:buFont typeface="Arial"/>
                        <a:buNone/>
                      </a:pPr>
                      <a:r>
                        <a:rPr b="1" lang="en-US" sz="1100" u="none" cap="none" strike="noStrike">
                          <a:solidFill>
                            <a:srgbClr val="000000"/>
                          </a:solidFill>
                          <a:latin typeface="Arial"/>
                          <a:ea typeface="Arial"/>
                          <a:cs typeface="Arial"/>
                          <a:sym typeface="Arial"/>
                        </a:rPr>
                        <a:t>Operational</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Business Continuity</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r>
              <a:tr h="457200">
                <a:tc>
                  <a:txBody>
                    <a:bodyPr/>
                    <a:lstStyle/>
                    <a:p>
                      <a:pPr indent="0" lvl="0" marL="0" marR="0" rtl="0" algn="l">
                        <a:spcBef>
                          <a:spcPts val="0"/>
                        </a:spcBef>
                        <a:spcAft>
                          <a:spcPts val="0"/>
                        </a:spcAft>
                        <a:buClr>
                          <a:srgbClr val="000000"/>
                        </a:buClr>
                        <a:buSzPts val="1100"/>
                        <a:buFont typeface="Arial"/>
                        <a:buNone/>
                      </a:pPr>
                      <a:r>
                        <a:rPr b="1" lang="en-US" sz="1100" u="none" cap="none" strike="noStrike">
                          <a:solidFill>
                            <a:srgbClr val="000000"/>
                          </a:solidFill>
                          <a:latin typeface="Arial"/>
                          <a:ea typeface="Arial"/>
                          <a:cs typeface="Arial"/>
                          <a:sym typeface="Arial"/>
                        </a:rPr>
                        <a:t>Reputational &amp; ESG</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100"/>
                        <a:buFont typeface="Arial"/>
                        <a:buNone/>
                      </a:pPr>
                      <a:r>
                        <a:rPr lang="en-US" sz="1100" u="none" cap="none" strike="noStrike">
                          <a:solidFill>
                            <a:srgbClr val="000000"/>
                          </a:solidFill>
                          <a:latin typeface="Arial"/>
                          <a:ea typeface="Arial"/>
                          <a:cs typeface="Arial"/>
                          <a:sym typeface="Arial"/>
                        </a:rPr>
                        <a:t>Risk Management</a:t>
                      </a:r>
                      <a:endParaRPr sz="11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r>
            </a:tbl>
          </a:graphicData>
        </a:graphic>
      </p:graphicFrame>
      <p:sp>
        <p:nvSpPr>
          <p:cNvPr id="162" name="Google Shape;162;p8"/>
          <p:cNvSpPr txBox="1"/>
          <p:nvPr>
            <p:ph idx="4294967295" type="sldNum"/>
          </p:nvPr>
        </p:nvSpPr>
        <p:spPr>
          <a:xfrm>
            <a:off x="11247120" y="6400800"/>
            <a:ext cx="4389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800" u="none" cap="none" strike="noStrike">
                <a:solidFill>
                  <a:srgbClr val="7F7F7F"/>
                </a:solidFill>
                <a:latin typeface="Arial"/>
                <a:ea typeface="Arial"/>
                <a:cs typeface="Arial"/>
                <a:sym typeface="Arial"/>
              </a:rPr>
              <a:t>‹#›</a:t>
            </a:fld>
            <a:endParaRPr b="0" i="0" sz="800" u="none" cap="none" strike="noStrike">
              <a:solidFill>
                <a:srgbClr val="7F7F7F"/>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0"/>
          <p:cNvSpPr txBox="1"/>
          <p:nvPr/>
        </p:nvSpPr>
        <p:spPr>
          <a:xfrm>
            <a:off x="502920" y="365760"/>
            <a:ext cx="11183112"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Every alert carries an owner, a deadline and its evidence</a:t>
            </a:r>
            <a:endParaRPr b="0" i="0" sz="2800" u="none" cap="none" strike="noStrike">
              <a:solidFill>
                <a:schemeClr val="dk1"/>
              </a:solidFill>
              <a:latin typeface="Calibri"/>
              <a:ea typeface="Calibri"/>
              <a:cs typeface="Calibri"/>
              <a:sym typeface="Calibri"/>
            </a:endParaRPr>
          </a:p>
        </p:txBody>
      </p:sp>
      <p:sp>
        <p:nvSpPr>
          <p:cNvPr id="169" name="Google Shape;169;p10"/>
          <p:cNvSpPr txBox="1"/>
          <p:nvPr/>
        </p:nvSpPr>
        <p:spPr>
          <a:xfrm>
            <a:off x="3566160" y="6382512"/>
            <a:ext cx="74980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Alert generated by the prototype on synthetic data</a:t>
            </a:r>
            <a:endParaRPr b="0" i="0" sz="800" u="none" cap="none" strike="noStrike">
              <a:solidFill>
                <a:schemeClr val="dk1"/>
              </a:solidFill>
              <a:latin typeface="Calibri"/>
              <a:ea typeface="Calibri"/>
              <a:cs typeface="Calibri"/>
              <a:sym typeface="Calibri"/>
            </a:endParaRPr>
          </a:p>
        </p:txBody>
      </p:sp>
      <p:sp>
        <p:nvSpPr>
          <p:cNvPr id="170" name="Google Shape;170;p10"/>
          <p:cNvSpPr/>
          <p:nvPr/>
        </p:nvSpPr>
        <p:spPr>
          <a:xfrm>
            <a:off x="502920" y="1325880"/>
            <a:ext cx="7589520" cy="4754880"/>
          </a:xfrm>
          <a:prstGeom prst="rect">
            <a:avLst/>
          </a:prstGeom>
          <a:solidFill>
            <a:srgbClr val="FFFFFF"/>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0"/>
          <p:cNvSpPr txBox="1"/>
          <p:nvPr/>
        </p:nvSpPr>
        <p:spPr>
          <a:xfrm>
            <a:off x="777240" y="1508760"/>
            <a:ext cx="18288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0000"/>
              </a:buClr>
              <a:buSzPts val="1300"/>
              <a:buFont typeface="Arial"/>
              <a:buNone/>
            </a:pPr>
            <a:r>
              <a:rPr b="1" i="0" lang="en-US" sz="1300" u="none" cap="none" strike="noStrike">
                <a:solidFill>
                  <a:srgbClr val="E60000"/>
                </a:solidFill>
                <a:latin typeface="Arial"/>
                <a:ea typeface="Arial"/>
                <a:cs typeface="Arial"/>
                <a:sym typeface="Arial"/>
              </a:rPr>
              <a:t>CRITICAL</a:t>
            </a:r>
            <a:endParaRPr b="0" i="0" sz="1300" u="none" cap="none" strike="noStrike">
              <a:solidFill>
                <a:schemeClr val="dk1"/>
              </a:solidFill>
              <a:latin typeface="Calibri"/>
              <a:ea typeface="Calibri"/>
              <a:cs typeface="Calibri"/>
              <a:sym typeface="Calibri"/>
            </a:endParaRPr>
          </a:p>
        </p:txBody>
      </p:sp>
      <p:sp>
        <p:nvSpPr>
          <p:cNvPr id="172" name="Google Shape;172;p10"/>
          <p:cNvSpPr txBox="1"/>
          <p:nvPr/>
        </p:nvSpPr>
        <p:spPr>
          <a:xfrm>
            <a:off x="777240" y="1783080"/>
            <a:ext cx="5486400" cy="4572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2000"/>
              <a:buFont typeface="Arial"/>
              <a:buNone/>
            </a:pPr>
            <a:r>
              <a:rPr b="0" i="0" lang="en-US" sz="2000" u="none" cap="none" strike="noStrike">
                <a:solidFill>
                  <a:srgbClr val="000000"/>
                </a:solidFill>
                <a:latin typeface="Arial"/>
                <a:ea typeface="Arial"/>
                <a:cs typeface="Arial"/>
                <a:sym typeface="Arial"/>
              </a:rPr>
              <a:t>Nordbridge Cloud Services  ·  Cyber</a:t>
            </a:r>
            <a:endParaRPr b="0" i="0" sz="2000" u="none" cap="none" strike="noStrike">
              <a:solidFill>
                <a:schemeClr val="dk1"/>
              </a:solidFill>
              <a:latin typeface="Calibri"/>
              <a:ea typeface="Calibri"/>
              <a:cs typeface="Calibri"/>
              <a:sym typeface="Calibri"/>
            </a:endParaRPr>
          </a:p>
        </p:txBody>
      </p:sp>
      <p:sp>
        <p:nvSpPr>
          <p:cNvPr id="173" name="Google Shape;173;p10"/>
          <p:cNvSpPr/>
          <p:nvPr/>
        </p:nvSpPr>
        <p:spPr>
          <a:xfrm>
            <a:off x="6812280" y="1508760"/>
            <a:ext cx="1005840" cy="1005840"/>
          </a:xfrm>
          <a:prstGeom prst="ellipse">
            <a:avLst/>
          </a:prstGeom>
          <a:solidFill>
            <a:srgbClr val="ECEBE4"/>
          </a:solidFill>
          <a:ln cap="flat" cmpd="sng" w="12700">
            <a:solidFill>
              <a:srgbClr val="ECEBE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10"/>
          <p:cNvSpPr txBox="1"/>
          <p:nvPr/>
        </p:nvSpPr>
        <p:spPr>
          <a:xfrm>
            <a:off x="6812280" y="1508760"/>
            <a:ext cx="1005840" cy="100584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00000"/>
              </a:buClr>
              <a:buSzPts val="1800"/>
              <a:buFont typeface="Arial"/>
              <a:buNone/>
            </a:pPr>
            <a:r>
              <a:rPr b="1" i="0" lang="en-US" sz="1800" u="none" cap="none" strike="noStrike">
                <a:solidFill>
                  <a:srgbClr val="000000"/>
                </a:solidFill>
                <a:latin typeface="Arial"/>
                <a:ea typeface="Arial"/>
                <a:cs typeface="Arial"/>
                <a:sym typeface="Arial"/>
              </a:rPr>
              <a:t>16.6</a:t>
            </a:r>
            <a:endParaRPr b="0" i="0" sz="18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7F7F7F"/>
              </a:buClr>
              <a:buSzPts val="1000"/>
              <a:buFont typeface="Arial"/>
              <a:buNone/>
            </a:pPr>
            <a:r>
              <a:rPr b="0" i="0" lang="en-US" sz="1000" u="none" cap="none" strike="noStrike">
                <a:solidFill>
                  <a:srgbClr val="7F7F7F"/>
                </a:solidFill>
                <a:latin typeface="Arial"/>
                <a:ea typeface="Arial"/>
                <a:cs typeface="Arial"/>
                <a:sym typeface="Arial"/>
              </a:rPr>
              <a:t>/ 25</a:t>
            </a:r>
            <a:endParaRPr b="0" i="0" sz="1800" u="none" cap="none" strike="noStrike">
              <a:solidFill>
                <a:schemeClr val="dk1"/>
              </a:solidFill>
              <a:latin typeface="Calibri"/>
              <a:ea typeface="Calibri"/>
              <a:cs typeface="Calibri"/>
              <a:sym typeface="Calibri"/>
            </a:endParaRPr>
          </a:p>
        </p:txBody>
      </p:sp>
      <p:sp>
        <p:nvSpPr>
          <p:cNvPr id="175" name="Google Shape;175;p10"/>
          <p:cNvSpPr txBox="1"/>
          <p:nvPr/>
        </p:nvSpPr>
        <p:spPr>
          <a:xfrm>
            <a:off x="777240" y="2331720"/>
            <a:ext cx="59436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100"/>
              <a:buFont typeface="Arial"/>
              <a:buNone/>
            </a:pPr>
            <a:r>
              <a:rPr b="1" i="0" lang="en-US" sz="1100" u="none" cap="none" strike="noStrike">
                <a:solidFill>
                  <a:srgbClr val="000000"/>
                </a:solidFill>
                <a:latin typeface="Arial"/>
                <a:ea typeface="Arial"/>
                <a:cs typeface="Arial"/>
                <a:sym typeface="Arial"/>
              </a:rPr>
              <a:t>Owner: </a:t>
            </a:r>
            <a:r>
              <a:rPr b="0" i="0" lang="en-US" sz="1100" u="none" cap="none" strike="noStrike">
                <a:solidFill>
                  <a:srgbClr val="000000"/>
                </a:solidFill>
                <a:latin typeface="Arial"/>
                <a:ea typeface="Arial"/>
                <a:cs typeface="Arial"/>
                <a:sym typeface="Arial"/>
              </a:rPr>
              <a:t>Security &amp; IT (Cyber Incident Response)     </a:t>
            </a:r>
            <a:r>
              <a:rPr b="1" i="0" lang="en-US" sz="1100" u="none" cap="none" strike="noStrike">
                <a:solidFill>
                  <a:srgbClr val="000000"/>
                </a:solidFill>
                <a:latin typeface="Arial"/>
                <a:ea typeface="Arial"/>
                <a:cs typeface="Arial"/>
                <a:sym typeface="Arial"/>
              </a:rPr>
              <a:t>Inform: </a:t>
            </a:r>
            <a:r>
              <a:rPr b="0" i="0" lang="en-US" sz="1100" u="none" cap="none" strike="noStrike">
                <a:solidFill>
                  <a:srgbClr val="000000"/>
                </a:solidFill>
                <a:latin typeface="Arial"/>
                <a:ea typeface="Arial"/>
                <a:cs typeface="Arial"/>
                <a:sym typeface="Arial"/>
              </a:rPr>
              <a:t>TPRM     </a:t>
            </a:r>
            <a:r>
              <a:rPr b="1" i="0" lang="en-US" sz="1100" u="none" cap="none" strike="noStrike">
                <a:solidFill>
                  <a:srgbClr val="000000"/>
                </a:solidFill>
                <a:latin typeface="Arial"/>
                <a:ea typeface="Arial"/>
                <a:cs typeface="Arial"/>
                <a:sym typeface="Arial"/>
              </a:rPr>
              <a:t>Deadline: </a:t>
            </a:r>
            <a:r>
              <a:rPr b="0" i="0" lang="en-US" sz="1100" u="none" cap="none" strike="noStrike">
                <a:solidFill>
                  <a:srgbClr val="000000"/>
                </a:solidFill>
                <a:latin typeface="Arial"/>
                <a:ea typeface="Arial"/>
                <a:cs typeface="Arial"/>
                <a:sym typeface="Arial"/>
              </a:rPr>
              <a:t>24 h</a:t>
            </a:r>
            <a:endParaRPr b="0" i="0" sz="1100" u="none" cap="none" strike="noStrike">
              <a:solidFill>
                <a:schemeClr val="dk1"/>
              </a:solidFill>
              <a:latin typeface="Calibri"/>
              <a:ea typeface="Calibri"/>
              <a:cs typeface="Calibri"/>
              <a:sym typeface="Calibri"/>
            </a:endParaRPr>
          </a:p>
        </p:txBody>
      </p:sp>
      <p:cxnSp>
        <p:nvCxnSpPr>
          <p:cNvPr id="176" name="Google Shape;176;p10"/>
          <p:cNvCxnSpPr/>
          <p:nvPr/>
        </p:nvCxnSpPr>
        <p:spPr>
          <a:xfrm>
            <a:off x="777240" y="2724912"/>
            <a:ext cx="7040880" cy="0"/>
          </a:xfrm>
          <a:prstGeom prst="straightConnector1">
            <a:avLst/>
          </a:prstGeom>
          <a:noFill/>
          <a:ln cap="flat" cmpd="sng" w="9525">
            <a:solidFill>
              <a:srgbClr val="BFBFBF"/>
            </a:solidFill>
            <a:prstDash val="solid"/>
            <a:round/>
            <a:headEnd len="sm" w="sm" type="none"/>
            <a:tailEnd len="sm" w="sm" type="none"/>
          </a:ln>
        </p:spPr>
      </p:cxnSp>
      <p:sp>
        <p:nvSpPr>
          <p:cNvPr id="177" name="Google Shape;177;p10"/>
          <p:cNvSpPr txBox="1"/>
          <p:nvPr/>
        </p:nvSpPr>
        <p:spPr>
          <a:xfrm>
            <a:off x="777240" y="2834640"/>
            <a:ext cx="329184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Why flagged</a:t>
            </a:r>
            <a:endParaRPr b="0" i="0" sz="1200" u="none" cap="none" strike="noStrike">
              <a:solidFill>
                <a:schemeClr val="dk1"/>
              </a:solidFill>
              <a:latin typeface="Calibri"/>
              <a:ea typeface="Calibri"/>
              <a:cs typeface="Calibri"/>
              <a:sym typeface="Calibri"/>
            </a:endParaRPr>
          </a:p>
        </p:txBody>
      </p:sp>
      <p:sp>
        <p:nvSpPr>
          <p:cNvPr id="178" name="Google Shape;178;p10"/>
          <p:cNvSpPr txBox="1"/>
          <p:nvPr/>
        </p:nvSpPr>
        <p:spPr>
          <a:xfrm>
            <a:off x="777240" y="3108960"/>
            <a:ext cx="3291840" cy="13716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100"/>
              <a:buFont typeface="Arial"/>
              <a:buNone/>
            </a:pPr>
            <a:r>
              <a:rPr b="0" i="0" lang="en-US" sz="1100" u="none" cap="none" strike="noStrike">
                <a:solidFill>
                  <a:srgbClr val="000000"/>
                </a:solidFill>
                <a:latin typeface="Arial"/>
                <a:ea typeface="Arial"/>
                <a:cs typeface="Arial"/>
                <a:sym typeface="Arial"/>
              </a:rPr>
              <a:t>Security feed (credibility 0.9), three independent sources in 30 days, two days old, critical vendor with client PII access; SOC 2 and ISO 27001 reduce the risk by 25%.</a:t>
            </a:r>
            <a:endParaRPr b="0" i="0" sz="1100" u="none" cap="none" strike="noStrike">
              <a:solidFill>
                <a:schemeClr val="dk1"/>
              </a:solidFill>
              <a:latin typeface="Calibri"/>
              <a:ea typeface="Calibri"/>
              <a:cs typeface="Calibri"/>
              <a:sym typeface="Calibri"/>
            </a:endParaRPr>
          </a:p>
        </p:txBody>
      </p:sp>
      <p:sp>
        <p:nvSpPr>
          <p:cNvPr id="179" name="Google Shape;179;p10"/>
          <p:cNvSpPr txBox="1"/>
          <p:nvPr/>
        </p:nvSpPr>
        <p:spPr>
          <a:xfrm>
            <a:off x="4389120" y="2834640"/>
            <a:ext cx="34290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Recommended actions</a:t>
            </a:r>
            <a:endParaRPr b="0" i="0" sz="1200" u="none" cap="none" strike="noStrike">
              <a:solidFill>
                <a:schemeClr val="dk1"/>
              </a:solidFill>
              <a:latin typeface="Calibri"/>
              <a:ea typeface="Calibri"/>
              <a:cs typeface="Calibri"/>
              <a:sym typeface="Calibri"/>
            </a:endParaRPr>
          </a:p>
        </p:txBody>
      </p:sp>
      <p:sp>
        <p:nvSpPr>
          <p:cNvPr id="180" name="Google Shape;180;p10"/>
          <p:cNvSpPr txBox="1"/>
          <p:nvPr/>
        </p:nvSpPr>
        <p:spPr>
          <a:xfrm>
            <a:off x="4389120" y="3108960"/>
            <a:ext cx="3429000" cy="14630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Check the vendor's access to bank systems; consider temporary restriction</a:t>
            </a:r>
            <a:endParaRPr b="0" i="0" sz="11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Request incident details and remediation timeline</a:t>
            </a:r>
            <a:endParaRPr b="0" i="0" sz="1100" u="none" cap="none" strike="noStrike">
              <a:solidFill>
                <a:schemeClr val="dk1"/>
              </a:solidFill>
              <a:latin typeface="Calibri"/>
              <a:ea typeface="Calibri"/>
              <a:cs typeface="Calibri"/>
              <a:sym typeface="Calibri"/>
            </a:endParaRPr>
          </a:p>
          <a:p>
            <a:pPr indent="-342900" lvl="0" marL="342900" marR="0" rtl="0" algn="l">
              <a:spcBef>
                <a:spcPts val="300"/>
              </a:spcBef>
              <a:spcAft>
                <a:spcPts val="0"/>
              </a:spcAft>
              <a:buClr>
                <a:srgbClr val="000000"/>
              </a:buClr>
              <a:buSzPts val="1100"/>
              <a:buFont typeface="Arial"/>
              <a:buChar char="•"/>
            </a:pPr>
            <a:r>
              <a:rPr b="0" i="0" lang="en-US" sz="1100" u="none" cap="none" strike="noStrike">
                <a:solidFill>
                  <a:srgbClr val="000000"/>
                </a:solidFill>
                <a:latin typeface="Arial"/>
                <a:ea typeface="Arial"/>
                <a:cs typeface="Arial"/>
                <a:sym typeface="Arial"/>
              </a:rPr>
              <a:t>Verify exposed credentials and indicators of compromise</a:t>
            </a:r>
            <a:endParaRPr b="0" i="0" sz="1100" u="none" cap="none" strike="noStrike">
              <a:solidFill>
                <a:schemeClr val="dk1"/>
              </a:solidFill>
              <a:latin typeface="Calibri"/>
              <a:ea typeface="Calibri"/>
              <a:cs typeface="Calibri"/>
              <a:sym typeface="Calibri"/>
            </a:endParaRPr>
          </a:p>
        </p:txBody>
      </p:sp>
      <p:sp>
        <p:nvSpPr>
          <p:cNvPr id="181" name="Google Shape;181;p10"/>
          <p:cNvSpPr txBox="1"/>
          <p:nvPr/>
        </p:nvSpPr>
        <p:spPr>
          <a:xfrm>
            <a:off x="777240" y="4617720"/>
            <a:ext cx="2743200" cy="2743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200"/>
              <a:buFont typeface="Arial"/>
              <a:buNone/>
            </a:pPr>
            <a:r>
              <a:rPr b="1" i="0" lang="en-US" sz="1200" u="none" cap="none" strike="noStrike">
                <a:solidFill>
                  <a:srgbClr val="000000"/>
                </a:solidFill>
                <a:latin typeface="Arial"/>
                <a:ea typeface="Arial"/>
                <a:cs typeface="Arial"/>
                <a:sym typeface="Arial"/>
              </a:rPr>
              <a:t>Evidence</a:t>
            </a:r>
            <a:endParaRPr b="0" i="0" sz="1200" u="none" cap="none" strike="noStrike">
              <a:solidFill>
                <a:schemeClr val="dk1"/>
              </a:solidFill>
              <a:latin typeface="Calibri"/>
              <a:ea typeface="Calibri"/>
              <a:cs typeface="Calibri"/>
              <a:sym typeface="Calibri"/>
            </a:endParaRPr>
          </a:p>
        </p:txBody>
      </p:sp>
      <p:graphicFrame>
        <p:nvGraphicFramePr>
          <p:cNvPr id="182" name="Google Shape;182;p10"/>
          <p:cNvGraphicFramePr/>
          <p:nvPr/>
        </p:nvGraphicFramePr>
        <p:xfrm>
          <a:off x="777240" y="4892040"/>
          <a:ext cx="3000000" cy="3000000"/>
        </p:xfrm>
        <a:graphic>
          <a:graphicData uri="http://schemas.openxmlformats.org/drawingml/2006/table">
            <a:tbl>
              <a:tblPr>
                <a:noFill/>
                <a:tableStyleId>{952ADB60-F521-4B44-9BCE-6ACEAE689FEF}</a:tableStyleId>
              </a:tblPr>
              <a:tblGrid>
                <a:gridCol w="731525"/>
                <a:gridCol w="1554475"/>
                <a:gridCol w="4754875"/>
              </a:tblGrid>
              <a:tr h="329175">
                <a:tc>
                  <a:txBody>
                    <a:bodyPr/>
                    <a:lstStyle/>
                    <a:p>
                      <a:pPr indent="0" lvl="0" marL="0" marR="0" rtl="0" algn="l">
                        <a:spcBef>
                          <a:spcPts val="0"/>
                        </a:spcBef>
                        <a:spcAft>
                          <a:spcPts val="0"/>
                        </a:spcAft>
                        <a:buClr>
                          <a:srgbClr val="7F7F7F"/>
                        </a:buClr>
                        <a:buSzPts val="1000"/>
                        <a:buFont typeface="Arial"/>
                        <a:buNone/>
                      </a:pPr>
                      <a:r>
                        <a:rPr lang="en-US" sz="1000" u="none" cap="none" strike="noStrike">
                          <a:solidFill>
                            <a:srgbClr val="7F7F7F"/>
                          </a:solidFill>
                          <a:latin typeface="Arial"/>
                          <a:ea typeface="Arial"/>
                          <a:cs typeface="Arial"/>
                          <a:sym typeface="Arial"/>
                        </a:rPr>
                        <a:t>20 Sep</a:t>
                      </a:r>
                      <a:endParaRPr sz="10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lang="en-US" sz="1000" u="none" cap="none" strike="noStrike">
                          <a:solidFill>
                            <a:srgbClr val="000000"/>
                          </a:solidFill>
                          <a:latin typeface="Arial"/>
                          <a:ea typeface="Arial"/>
                          <a:cs typeface="Arial"/>
                          <a:sym typeface="Arial"/>
                        </a:rPr>
                        <a:t>CyberWatch Feed</a:t>
                      </a:r>
                      <a:endParaRPr sz="10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lang="en-US" sz="1000" u="none" cap="none" strike="noStrike">
                          <a:solidFill>
                            <a:srgbClr val="000000"/>
                          </a:solidFill>
                          <a:latin typeface="Arial"/>
                          <a:ea typeface="Arial"/>
                          <a:cs typeface="Arial"/>
                          <a:sym typeface="Arial"/>
                        </a:rPr>
                        <a:t>Nordbridge Cloud credentials listed on dark-web forum</a:t>
                      </a:r>
                      <a:endParaRPr sz="10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r>
              <a:tr h="329175">
                <a:tc>
                  <a:txBody>
                    <a:bodyPr/>
                    <a:lstStyle/>
                    <a:p>
                      <a:pPr indent="0" lvl="0" marL="0" marR="0" rtl="0" algn="l">
                        <a:spcBef>
                          <a:spcPts val="0"/>
                        </a:spcBef>
                        <a:spcAft>
                          <a:spcPts val="0"/>
                        </a:spcAft>
                        <a:buClr>
                          <a:srgbClr val="7F7F7F"/>
                        </a:buClr>
                        <a:buSzPts val="1000"/>
                        <a:buFont typeface="Arial"/>
                        <a:buNone/>
                      </a:pPr>
                      <a:r>
                        <a:rPr lang="en-US" sz="1000" u="none" cap="none" strike="noStrike">
                          <a:solidFill>
                            <a:srgbClr val="7F7F7F"/>
                          </a:solidFill>
                          <a:latin typeface="Arial"/>
                          <a:ea typeface="Arial"/>
                          <a:cs typeface="Arial"/>
                          <a:sym typeface="Arial"/>
                        </a:rPr>
                        <a:t>19 Sep</a:t>
                      </a:r>
                      <a:endParaRPr sz="10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lang="en-US" sz="1000" u="none" cap="none" strike="noStrike">
                          <a:solidFill>
                            <a:srgbClr val="000000"/>
                          </a:solidFill>
                          <a:latin typeface="Arial"/>
                          <a:ea typeface="Arial"/>
                          <a:cs typeface="Arial"/>
                          <a:sym typeface="Arial"/>
                        </a:rPr>
                        <a:t>Swiss Tech Daily</a:t>
                      </a:r>
                      <a:endParaRPr sz="10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lang="en-US" sz="1000" u="none" cap="none" strike="noStrike">
                          <a:solidFill>
                            <a:srgbClr val="000000"/>
                          </a:solidFill>
                          <a:latin typeface="Arial"/>
                          <a:ea typeface="Arial"/>
                          <a:cs typeface="Arial"/>
                          <a:sym typeface="Arial"/>
                        </a:rPr>
                        <a:t>Nordbridge confirms investigation into possible data breach</a:t>
                      </a:r>
                      <a:endParaRPr sz="10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alpha val="0"/>
                        </a:srgbClr>
                      </a:solidFill>
                      <a:prstDash val="solid"/>
                      <a:round/>
                      <a:headEnd len="sm" w="sm" type="none"/>
                      <a:tailEnd len="sm" w="sm" type="none"/>
                    </a:lnB>
                  </a:tcPr>
                </a:tc>
              </a:tr>
              <a:tr h="329175">
                <a:tc>
                  <a:txBody>
                    <a:bodyPr/>
                    <a:lstStyle/>
                    <a:p>
                      <a:pPr indent="0" lvl="0" marL="0" marR="0" rtl="0" algn="l">
                        <a:spcBef>
                          <a:spcPts val="0"/>
                        </a:spcBef>
                        <a:spcAft>
                          <a:spcPts val="0"/>
                        </a:spcAft>
                        <a:buClr>
                          <a:srgbClr val="7F7F7F"/>
                        </a:buClr>
                        <a:buSzPts val="1000"/>
                        <a:buFont typeface="Arial"/>
                        <a:buNone/>
                      </a:pPr>
                      <a:r>
                        <a:rPr lang="en-US" sz="1000" u="none" cap="none" strike="noStrike">
                          <a:solidFill>
                            <a:srgbClr val="7F7F7F"/>
                          </a:solidFill>
                          <a:latin typeface="Arial"/>
                          <a:ea typeface="Arial"/>
                          <a:cs typeface="Arial"/>
                          <a:sym typeface="Arial"/>
                        </a:rPr>
                        <a:t>17 Sep</a:t>
                      </a:r>
                      <a:endParaRPr sz="10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lang="en-US" sz="1000" u="none" cap="none" strike="noStrike">
                          <a:solidFill>
                            <a:srgbClr val="000000"/>
                          </a:solidFill>
                          <a:latin typeface="Arial"/>
                          <a:ea typeface="Arial"/>
                          <a:cs typeface="Arial"/>
                          <a:sym typeface="Arial"/>
                        </a:rPr>
                        <a:t>InfoSec Weekly</a:t>
                      </a:r>
                      <a:endParaRPr sz="10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c>
                  <a:txBody>
                    <a:bodyPr/>
                    <a:lstStyle/>
                    <a:p>
                      <a:pPr indent="0" lvl="0" marL="0" marR="0" rtl="0" algn="l">
                        <a:spcBef>
                          <a:spcPts val="0"/>
                        </a:spcBef>
                        <a:spcAft>
                          <a:spcPts val="0"/>
                        </a:spcAft>
                        <a:buClr>
                          <a:srgbClr val="000000"/>
                        </a:buClr>
                        <a:buSzPts val="1000"/>
                        <a:buFont typeface="Arial"/>
                        <a:buNone/>
                      </a:pPr>
                      <a:r>
                        <a:rPr lang="en-US" sz="1000" u="none" cap="none" strike="noStrike">
                          <a:solidFill>
                            <a:srgbClr val="000000"/>
                          </a:solidFill>
                          <a:latin typeface="Arial"/>
                          <a:ea typeface="Arial"/>
                          <a:cs typeface="Arial"/>
                          <a:sym typeface="Arial"/>
                        </a:rPr>
                        <a:t>Researchers link Nordbridge outage to ransomware group</a:t>
                      </a:r>
                      <a:endParaRPr sz="1000" u="none" cap="none" strike="noStrike">
                        <a:latin typeface="Arial"/>
                        <a:ea typeface="Arial"/>
                        <a:cs typeface="Arial"/>
                        <a:sym typeface="Arial"/>
                      </a:endParaRPr>
                    </a:p>
                  </a:txBody>
                  <a:tcPr marT="36575" marB="36575" marR="73150" marL="73150" anchor="ctr">
                    <a:lnL cap="flat" cmpd="sng" w="9525">
                      <a:solidFill>
                        <a:srgbClr val="000000">
                          <a:alpha val="0"/>
                        </a:srgbClr>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BFBFBF">
                          <a:alpha val="0"/>
                        </a:srgbClr>
                      </a:solidFill>
                      <a:prstDash val="solid"/>
                      <a:round/>
                      <a:headEnd len="sm" w="sm" type="none"/>
                      <a:tailEnd len="sm" w="sm" type="none"/>
                    </a:lnT>
                    <a:lnB cap="flat" cmpd="sng" w="9525">
                      <a:solidFill>
                        <a:srgbClr val="BFBFBF"/>
                      </a:solidFill>
                      <a:prstDash val="solid"/>
                      <a:round/>
                      <a:headEnd len="sm" w="sm" type="none"/>
                      <a:tailEnd len="sm" w="sm" type="none"/>
                    </a:lnB>
                  </a:tcPr>
                </a:tc>
              </a:tr>
            </a:tbl>
          </a:graphicData>
        </a:graphic>
      </p:graphicFrame>
      <p:sp>
        <p:nvSpPr>
          <p:cNvPr id="183" name="Google Shape;183;p10"/>
          <p:cNvSpPr/>
          <p:nvPr/>
        </p:nvSpPr>
        <p:spPr>
          <a:xfrm>
            <a:off x="8503920" y="1463040"/>
            <a:ext cx="640080" cy="640080"/>
          </a:xfrm>
          <a:prstGeom prst="ellipse">
            <a:avLst/>
          </a:prstGeom>
          <a:solidFill>
            <a:srgbClr val="5A5D5C"/>
          </a:solidFill>
          <a:ln cap="flat" cmpd="sng" w="12700">
            <a:solidFill>
              <a:srgbClr val="5A5D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10"/>
          <p:cNvSpPr txBox="1"/>
          <p:nvPr/>
        </p:nvSpPr>
        <p:spPr>
          <a:xfrm>
            <a:off x="8503920" y="146304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1</a:t>
            </a:r>
            <a:endParaRPr b="0" i="0" sz="1600" u="none" cap="none" strike="noStrike">
              <a:solidFill>
                <a:schemeClr val="dk1"/>
              </a:solidFill>
              <a:latin typeface="Calibri"/>
              <a:ea typeface="Calibri"/>
              <a:cs typeface="Calibri"/>
              <a:sym typeface="Calibri"/>
            </a:endParaRPr>
          </a:p>
        </p:txBody>
      </p:sp>
      <p:sp>
        <p:nvSpPr>
          <p:cNvPr id="185" name="Google Shape;185;p10"/>
          <p:cNvSpPr txBox="1"/>
          <p:nvPr/>
        </p:nvSpPr>
        <p:spPr>
          <a:xfrm>
            <a:off x="9326880" y="1444752"/>
            <a:ext cx="2359152"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Explainable</a:t>
            </a:r>
            <a:endParaRPr b="0" i="0" sz="1500" u="none" cap="none" strike="noStrike">
              <a:solidFill>
                <a:schemeClr val="dk1"/>
              </a:solidFill>
              <a:latin typeface="Calibri"/>
              <a:ea typeface="Calibri"/>
              <a:cs typeface="Calibri"/>
              <a:sym typeface="Calibri"/>
            </a:endParaRPr>
          </a:p>
        </p:txBody>
      </p:sp>
      <p:sp>
        <p:nvSpPr>
          <p:cNvPr id="186" name="Google Shape;186;p10"/>
          <p:cNvSpPr txBox="1"/>
          <p:nvPr/>
        </p:nvSpPr>
        <p:spPr>
          <a:xfrm>
            <a:off x="9326880" y="1792224"/>
            <a:ext cx="2359152"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every factor behind the score is shown</a:t>
            </a:r>
            <a:endParaRPr b="0" i="0" sz="1200" u="none" cap="none" strike="noStrike">
              <a:solidFill>
                <a:schemeClr val="dk1"/>
              </a:solidFill>
              <a:latin typeface="Calibri"/>
              <a:ea typeface="Calibri"/>
              <a:cs typeface="Calibri"/>
              <a:sym typeface="Calibri"/>
            </a:endParaRPr>
          </a:p>
        </p:txBody>
      </p:sp>
      <p:sp>
        <p:nvSpPr>
          <p:cNvPr id="187" name="Google Shape;187;p10"/>
          <p:cNvSpPr/>
          <p:nvPr/>
        </p:nvSpPr>
        <p:spPr>
          <a:xfrm>
            <a:off x="8503920" y="2971800"/>
            <a:ext cx="640080" cy="640080"/>
          </a:xfrm>
          <a:prstGeom prst="ellipse">
            <a:avLst/>
          </a:prstGeom>
          <a:solidFill>
            <a:srgbClr val="5A5D5C"/>
          </a:solidFill>
          <a:ln cap="flat" cmpd="sng" w="12700">
            <a:solidFill>
              <a:srgbClr val="5A5D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0"/>
          <p:cNvSpPr txBox="1"/>
          <p:nvPr/>
        </p:nvSpPr>
        <p:spPr>
          <a:xfrm>
            <a:off x="8503920" y="297180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2</a:t>
            </a:r>
            <a:endParaRPr b="0" i="0" sz="1600" u="none" cap="none" strike="noStrike">
              <a:solidFill>
                <a:schemeClr val="dk1"/>
              </a:solidFill>
              <a:latin typeface="Calibri"/>
              <a:ea typeface="Calibri"/>
              <a:cs typeface="Calibri"/>
              <a:sym typeface="Calibri"/>
            </a:endParaRPr>
          </a:p>
        </p:txBody>
      </p:sp>
      <p:sp>
        <p:nvSpPr>
          <p:cNvPr id="189" name="Google Shape;189;p10"/>
          <p:cNvSpPr txBox="1"/>
          <p:nvPr/>
        </p:nvSpPr>
        <p:spPr>
          <a:xfrm>
            <a:off x="9326880" y="2953512"/>
            <a:ext cx="2359152"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Traceable</a:t>
            </a:r>
            <a:endParaRPr b="0" i="0" sz="1500" u="none" cap="none" strike="noStrike">
              <a:solidFill>
                <a:schemeClr val="dk1"/>
              </a:solidFill>
              <a:latin typeface="Calibri"/>
              <a:ea typeface="Calibri"/>
              <a:cs typeface="Calibri"/>
              <a:sym typeface="Calibri"/>
            </a:endParaRPr>
          </a:p>
        </p:txBody>
      </p:sp>
      <p:sp>
        <p:nvSpPr>
          <p:cNvPr id="190" name="Google Shape;190;p10"/>
          <p:cNvSpPr txBox="1"/>
          <p:nvPr/>
        </p:nvSpPr>
        <p:spPr>
          <a:xfrm>
            <a:off x="9326880" y="3300984"/>
            <a:ext cx="2359152"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each alert links to its sources</a:t>
            </a:r>
            <a:endParaRPr b="0" i="0" sz="1200" u="none" cap="none" strike="noStrike">
              <a:solidFill>
                <a:schemeClr val="dk1"/>
              </a:solidFill>
              <a:latin typeface="Calibri"/>
              <a:ea typeface="Calibri"/>
              <a:cs typeface="Calibri"/>
              <a:sym typeface="Calibri"/>
            </a:endParaRPr>
          </a:p>
        </p:txBody>
      </p:sp>
      <p:sp>
        <p:nvSpPr>
          <p:cNvPr id="191" name="Google Shape;191;p10"/>
          <p:cNvSpPr/>
          <p:nvPr/>
        </p:nvSpPr>
        <p:spPr>
          <a:xfrm>
            <a:off x="8503920" y="4480560"/>
            <a:ext cx="640080" cy="640080"/>
          </a:xfrm>
          <a:prstGeom prst="ellipse">
            <a:avLst/>
          </a:prstGeom>
          <a:solidFill>
            <a:srgbClr val="5A5D5C"/>
          </a:solidFill>
          <a:ln cap="flat" cmpd="sng" w="12700">
            <a:solidFill>
              <a:srgbClr val="5A5D5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0"/>
          <p:cNvSpPr txBox="1"/>
          <p:nvPr/>
        </p:nvSpPr>
        <p:spPr>
          <a:xfrm>
            <a:off x="8503920" y="4480560"/>
            <a:ext cx="64008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600"/>
              <a:buFont typeface="Arial"/>
              <a:buNone/>
            </a:pPr>
            <a:r>
              <a:rPr b="1" i="0" lang="en-US" sz="1600" u="none" cap="none" strike="noStrike">
                <a:solidFill>
                  <a:srgbClr val="FFFFFF"/>
                </a:solidFill>
                <a:latin typeface="Arial"/>
                <a:ea typeface="Arial"/>
                <a:cs typeface="Arial"/>
                <a:sym typeface="Arial"/>
              </a:rPr>
              <a:t>3</a:t>
            </a:r>
            <a:endParaRPr b="0" i="0" sz="1600" u="none" cap="none" strike="noStrike">
              <a:solidFill>
                <a:schemeClr val="dk1"/>
              </a:solidFill>
              <a:latin typeface="Calibri"/>
              <a:ea typeface="Calibri"/>
              <a:cs typeface="Calibri"/>
              <a:sym typeface="Calibri"/>
            </a:endParaRPr>
          </a:p>
        </p:txBody>
      </p:sp>
      <p:sp>
        <p:nvSpPr>
          <p:cNvPr id="193" name="Google Shape;193;p10"/>
          <p:cNvSpPr txBox="1"/>
          <p:nvPr/>
        </p:nvSpPr>
        <p:spPr>
          <a:xfrm>
            <a:off x="9326880" y="4462272"/>
            <a:ext cx="2359152" cy="3200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500"/>
              <a:buFont typeface="Arial"/>
              <a:buNone/>
            </a:pPr>
            <a:r>
              <a:rPr b="1" i="0" lang="en-US" sz="1500" u="none" cap="none" strike="noStrike">
                <a:solidFill>
                  <a:srgbClr val="000000"/>
                </a:solidFill>
                <a:latin typeface="Arial"/>
                <a:ea typeface="Arial"/>
                <a:cs typeface="Arial"/>
                <a:sym typeface="Arial"/>
              </a:rPr>
              <a:t>Human in the loop</a:t>
            </a:r>
            <a:endParaRPr b="0" i="0" sz="1500" u="none" cap="none" strike="noStrike">
              <a:solidFill>
                <a:schemeClr val="dk1"/>
              </a:solidFill>
              <a:latin typeface="Calibri"/>
              <a:ea typeface="Calibri"/>
              <a:cs typeface="Calibri"/>
              <a:sym typeface="Calibri"/>
            </a:endParaRPr>
          </a:p>
        </p:txBody>
      </p:sp>
      <p:sp>
        <p:nvSpPr>
          <p:cNvPr id="194" name="Google Shape;194;p10"/>
          <p:cNvSpPr txBox="1"/>
          <p:nvPr/>
        </p:nvSpPr>
        <p:spPr>
          <a:xfrm>
            <a:off x="9326880" y="4809744"/>
            <a:ext cx="2359152"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no automatic action towards a vendor</a:t>
            </a:r>
            <a:endParaRPr b="0" i="0" sz="1200" u="none" cap="none" strike="noStrike">
              <a:solidFill>
                <a:schemeClr val="dk1"/>
              </a:solidFill>
              <a:latin typeface="Calibri"/>
              <a:ea typeface="Calibri"/>
              <a:cs typeface="Calibri"/>
              <a:sym typeface="Calibri"/>
            </a:endParaRPr>
          </a:p>
        </p:txBody>
      </p:sp>
      <p:sp>
        <p:nvSpPr>
          <p:cNvPr id="195" name="Google Shape;195;p10"/>
          <p:cNvSpPr txBox="1"/>
          <p:nvPr>
            <p:ph idx="4294967295" type="sldNum"/>
          </p:nvPr>
        </p:nvSpPr>
        <p:spPr>
          <a:xfrm>
            <a:off x="11247120" y="6400800"/>
            <a:ext cx="4389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800" u="none" cap="none" strike="noStrike">
                <a:solidFill>
                  <a:srgbClr val="7F7F7F"/>
                </a:solidFill>
                <a:latin typeface="Arial"/>
                <a:ea typeface="Arial"/>
                <a:cs typeface="Arial"/>
                <a:sym typeface="Arial"/>
              </a:rPr>
              <a:t>‹#›</a:t>
            </a:fld>
            <a:endParaRPr b="0" i="0" sz="800" u="none" cap="none" strike="noStrike">
              <a:solidFill>
                <a:srgbClr val="7F7F7F"/>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12"/>
          <p:cNvSpPr txBox="1"/>
          <p:nvPr/>
        </p:nvSpPr>
        <p:spPr>
          <a:xfrm>
            <a:off x="502920" y="365760"/>
            <a:ext cx="11183112"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2800"/>
              <a:buFont typeface="Arial"/>
              <a:buNone/>
            </a:pPr>
            <a:r>
              <a:rPr b="0" i="0" lang="en-US" sz="2800" u="none" cap="none" strike="noStrike">
                <a:solidFill>
                  <a:srgbClr val="000000"/>
                </a:solidFill>
                <a:latin typeface="Arial"/>
                <a:ea typeface="Arial"/>
                <a:cs typeface="Arial"/>
                <a:sym typeface="Arial"/>
              </a:rPr>
              <a:t>What worked, what did not, and what comes next</a:t>
            </a:r>
            <a:endParaRPr b="0" i="0" sz="2800" u="none" cap="none" strike="noStrike">
              <a:solidFill>
                <a:schemeClr val="dk1"/>
              </a:solidFill>
              <a:latin typeface="Calibri"/>
              <a:ea typeface="Calibri"/>
              <a:cs typeface="Calibri"/>
              <a:sym typeface="Calibri"/>
            </a:endParaRPr>
          </a:p>
        </p:txBody>
      </p:sp>
      <p:sp>
        <p:nvSpPr>
          <p:cNvPr id="202" name="Google Shape;202;p12"/>
          <p:cNvSpPr/>
          <p:nvPr/>
        </p:nvSpPr>
        <p:spPr>
          <a:xfrm>
            <a:off x="502920" y="1325880"/>
            <a:ext cx="5458968" cy="2194560"/>
          </a:xfrm>
          <a:prstGeom prst="rect">
            <a:avLst/>
          </a:prstGeom>
          <a:solidFill>
            <a:srgbClr val="FFFFFF"/>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12"/>
          <p:cNvSpPr txBox="1"/>
          <p:nvPr/>
        </p:nvSpPr>
        <p:spPr>
          <a:xfrm>
            <a:off x="777240" y="1508760"/>
            <a:ext cx="4910328"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0000"/>
              </a:buClr>
              <a:buSzPts val="1600"/>
              <a:buFont typeface="Arial"/>
              <a:buNone/>
            </a:pPr>
            <a:r>
              <a:rPr b="0" i="0" lang="en-US" sz="1600" u="none" cap="none" strike="noStrike">
                <a:solidFill>
                  <a:srgbClr val="E60000"/>
                </a:solidFill>
                <a:latin typeface="Arial"/>
                <a:ea typeface="Arial"/>
                <a:cs typeface="Arial"/>
                <a:sym typeface="Arial"/>
              </a:rPr>
              <a:t>What worked</a:t>
            </a:r>
            <a:endParaRPr b="0" i="0" sz="1600" u="none" cap="none" strike="noStrike">
              <a:solidFill>
                <a:schemeClr val="dk1"/>
              </a:solidFill>
              <a:latin typeface="Calibri"/>
              <a:ea typeface="Calibri"/>
              <a:cs typeface="Calibri"/>
              <a:sym typeface="Calibri"/>
            </a:endParaRPr>
          </a:p>
        </p:txBody>
      </p:sp>
      <p:sp>
        <p:nvSpPr>
          <p:cNvPr id="204" name="Google Shape;204;p12"/>
          <p:cNvSpPr txBox="1"/>
          <p:nvPr/>
        </p:nvSpPr>
        <p:spPr>
          <a:xfrm>
            <a:off x="777240" y="1965960"/>
            <a:ext cx="4910328" cy="1417320"/>
          </a:xfrm>
          <a:prstGeom prst="rect">
            <a:avLst/>
          </a:prstGeom>
          <a:noFill/>
          <a:ln>
            <a:noFill/>
          </a:ln>
        </p:spPr>
        <p:txBody>
          <a:bodyPr anchorCtr="0" anchor="t" bIns="0" lIns="0" spcFirstLastPara="1" rIns="0" wrap="square" tIns="0">
            <a:noAutofit/>
          </a:bodyPr>
          <a:lstStyle/>
          <a:p>
            <a:pPr indent="-342900" lvl="0" marL="342900" marR="0" rtl="0" algn="l">
              <a:spcBef>
                <a:spcPts val="600"/>
              </a:spcBef>
              <a:spcAft>
                <a:spcPts val="0"/>
              </a:spcAft>
              <a:buClr>
                <a:srgbClr val="000000"/>
              </a:buClr>
              <a:buSzPts val="1500"/>
              <a:buFont typeface="Arial"/>
              <a:buChar char="•"/>
            </a:pPr>
            <a:r>
              <a:t/>
            </a:r>
            <a:endParaRPr b="0" i="0" sz="1500" u="none" cap="none" strike="noStrike">
              <a:solidFill>
                <a:schemeClr val="dk1"/>
              </a:solidFill>
              <a:latin typeface="Calibri"/>
              <a:ea typeface="Calibri"/>
              <a:cs typeface="Calibri"/>
              <a:sym typeface="Calibri"/>
            </a:endParaRPr>
          </a:p>
        </p:txBody>
      </p:sp>
      <p:sp>
        <p:nvSpPr>
          <p:cNvPr id="205" name="Google Shape;205;p12"/>
          <p:cNvSpPr/>
          <p:nvPr/>
        </p:nvSpPr>
        <p:spPr>
          <a:xfrm>
            <a:off x="6217920" y="1325880"/>
            <a:ext cx="5458968" cy="2194560"/>
          </a:xfrm>
          <a:prstGeom prst="rect">
            <a:avLst/>
          </a:prstGeom>
          <a:solidFill>
            <a:srgbClr val="FFFFFF"/>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2"/>
          <p:cNvSpPr txBox="1"/>
          <p:nvPr/>
        </p:nvSpPr>
        <p:spPr>
          <a:xfrm>
            <a:off x="6492240" y="1508760"/>
            <a:ext cx="4910328"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0000"/>
              </a:buClr>
              <a:buSzPts val="1600"/>
              <a:buFont typeface="Arial"/>
              <a:buNone/>
            </a:pPr>
            <a:r>
              <a:rPr b="0" i="0" lang="en-US" sz="1600" u="none" cap="none" strike="noStrike">
                <a:solidFill>
                  <a:srgbClr val="E60000"/>
                </a:solidFill>
                <a:latin typeface="Arial"/>
                <a:ea typeface="Arial"/>
                <a:cs typeface="Arial"/>
                <a:sym typeface="Arial"/>
              </a:rPr>
              <a:t>Limitations</a:t>
            </a:r>
            <a:endParaRPr b="0" i="0" sz="1600" u="none" cap="none" strike="noStrike">
              <a:solidFill>
                <a:schemeClr val="dk1"/>
              </a:solidFill>
              <a:latin typeface="Calibri"/>
              <a:ea typeface="Calibri"/>
              <a:cs typeface="Calibri"/>
              <a:sym typeface="Calibri"/>
            </a:endParaRPr>
          </a:p>
        </p:txBody>
      </p:sp>
      <p:sp>
        <p:nvSpPr>
          <p:cNvPr id="207" name="Google Shape;207;p12"/>
          <p:cNvSpPr txBox="1"/>
          <p:nvPr/>
        </p:nvSpPr>
        <p:spPr>
          <a:xfrm>
            <a:off x="6492240" y="1965960"/>
            <a:ext cx="4910328" cy="1417320"/>
          </a:xfrm>
          <a:prstGeom prst="rect">
            <a:avLst/>
          </a:prstGeom>
          <a:noFill/>
          <a:ln>
            <a:noFill/>
          </a:ln>
        </p:spPr>
        <p:txBody>
          <a:bodyPr anchorCtr="0" anchor="t" bIns="0" lIns="0" spcFirstLastPara="1" rIns="0" wrap="square" tIns="0">
            <a:noAutofit/>
          </a:bodyPr>
          <a:lstStyle/>
          <a:p>
            <a:pPr indent="-342900" lvl="0" marL="342900" marR="0" rtl="0" algn="l">
              <a:spcBef>
                <a:spcPts val="600"/>
              </a:spcBef>
              <a:spcAft>
                <a:spcPts val="0"/>
              </a:spcAft>
              <a:buClr>
                <a:srgbClr val="000000"/>
              </a:buClr>
              <a:buSzPts val="1500"/>
              <a:buFont typeface="Arial"/>
              <a:buChar char="•"/>
            </a:pPr>
            <a:r>
              <a:t/>
            </a:r>
            <a:endParaRPr b="0" i="0" sz="1500" u="none" cap="none" strike="noStrike">
              <a:solidFill>
                <a:schemeClr val="dk1"/>
              </a:solidFill>
              <a:latin typeface="Calibri"/>
              <a:ea typeface="Calibri"/>
              <a:cs typeface="Calibri"/>
              <a:sym typeface="Calibri"/>
            </a:endParaRPr>
          </a:p>
        </p:txBody>
      </p:sp>
      <p:sp>
        <p:nvSpPr>
          <p:cNvPr id="208" name="Google Shape;208;p12"/>
          <p:cNvSpPr/>
          <p:nvPr/>
        </p:nvSpPr>
        <p:spPr>
          <a:xfrm>
            <a:off x="502920" y="3776472"/>
            <a:ext cx="5458968" cy="2194560"/>
          </a:xfrm>
          <a:prstGeom prst="rect">
            <a:avLst/>
          </a:prstGeom>
          <a:solidFill>
            <a:srgbClr val="FFFFFF"/>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12"/>
          <p:cNvSpPr txBox="1"/>
          <p:nvPr/>
        </p:nvSpPr>
        <p:spPr>
          <a:xfrm>
            <a:off x="777240" y="3959352"/>
            <a:ext cx="4910328"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0000"/>
              </a:buClr>
              <a:buSzPts val="1600"/>
              <a:buFont typeface="Arial"/>
              <a:buNone/>
            </a:pPr>
            <a:r>
              <a:rPr b="0" i="0" lang="en-US" sz="1600" u="none" cap="none" strike="noStrike">
                <a:solidFill>
                  <a:srgbClr val="E60000"/>
                </a:solidFill>
                <a:latin typeface="Arial"/>
                <a:ea typeface="Arial"/>
                <a:cs typeface="Arial"/>
                <a:sym typeface="Arial"/>
              </a:rPr>
              <a:t>Next steps</a:t>
            </a:r>
            <a:endParaRPr b="0" i="0" sz="1600" u="none" cap="none" strike="noStrike">
              <a:solidFill>
                <a:schemeClr val="dk1"/>
              </a:solidFill>
              <a:latin typeface="Calibri"/>
              <a:ea typeface="Calibri"/>
              <a:cs typeface="Calibri"/>
              <a:sym typeface="Calibri"/>
            </a:endParaRPr>
          </a:p>
        </p:txBody>
      </p:sp>
      <p:sp>
        <p:nvSpPr>
          <p:cNvPr id="210" name="Google Shape;210;p12"/>
          <p:cNvSpPr txBox="1"/>
          <p:nvPr/>
        </p:nvSpPr>
        <p:spPr>
          <a:xfrm>
            <a:off x="777240" y="4416552"/>
            <a:ext cx="4910328" cy="1417320"/>
          </a:xfrm>
          <a:prstGeom prst="rect">
            <a:avLst/>
          </a:prstGeom>
          <a:noFill/>
          <a:ln>
            <a:noFill/>
          </a:ln>
        </p:spPr>
        <p:txBody>
          <a:bodyPr anchorCtr="0" anchor="t" bIns="0" lIns="0" spcFirstLastPara="1" rIns="0" wrap="square" tIns="0">
            <a:noAutofit/>
          </a:bodyPr>
          <a:lstStyle/>
          <a:p>
            <a:pPr indent="-342900" lvl="0" marL="342900" marR="0" rtl="0" algn="l">
              <a:spcBef>
                <a:spcPts val="600"/>
              </a:spcBef>
              <a:spcAft>
                <a:spcPts val="0"/>
              </a:spcAft>
              <a:buClr>
                <a:srgbClr val="000000"/>
              </a:buClr>
              <a:buSzPts val="1500"/>
              <a:buFont typeface="Arial"/>
              <a:buChar char="•"/>
            </a:pPr>
            <a:r>
              <a:t/>
            </a:r>
            <a:endParaRPr b="0" i="0" sz="1500" u="none" cap="none" strike="noStrike">
              <a:solidFill>
                <a:schemeClr val="dk1"/>
              </a:solidFill>
              <a:latin typeface="Calibri"/>
              <a:ea typeface="Calibri"/>
              <a:cs typeface="Calibri"/>
              <a:sym typeface="Calibri"/>
            </a:endParaRPr>
          </a:p>
        </p:txBody>
      </p:sp>
      <p:sp>
        <p:nvSpPr>
          <p:cNvPr id="211" name="Google Shape;211;p12"/>
          <p:cNvSpPr/>
          <p:nvPr/>
        </p:nvSpPr>
        <p:spPr>
          <a:xfrm>
            <a:off x="6217920" y="3776472"/>
            <a:ext cx="5458968" cy="2194560"/>
          </a:xfrm>
          <a:prstGeom prst="rect">
            <a:avLst/>
          </a:prstGeom>
          <a:solidFill>
            <a:srgbClr val="FFFFFF"/>
          </a:solidFill>
          <a:ln cap="flat" cmpd="sng" w="9525">
            <a:solidFill>
              <a:srgbClr val="BFBFB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2"/>
          <p:cNvSpPr txBox="1"/>
          <p:nvPr/>
        </p:nvSpPr>
        <p:spPr>
          <a:xfrm>
            <a:off x="6492240" y="3959352"/>
            <a:ext cx="4910328" cy="3657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E60000"/>
              </a:buClr>
              <a:buSzPts val="1600"/>
              <a:buFont typeface="Arial"/>
              <a:buNone/>
            </a:pPr>
            <a:r>
              <a:rPr b="0" i="0" lang="en-US" sz="1600" u="none" cap="none" strike="noStrike">
                <a:solidFill>
                  <a:srgbClr val="E60000"/>
                </a:solidFill>
                <a:latin typeface="Arial"/>
                <a:ea typeface="Arial"/>
                <a:cs typeface="Arial"/>
                <a:sym typeface="Arial"/>
              </a:rPr>
              <a:t>Responsible AI</a:t>
            </a:r>
            <a:endParaRPr b="0" i="0" sz="1600" u="none" cap="none" strike="noStrike">
              <a:solidFill>
                <a:schemeClr val="dk1"/>
              </a:solidFill>
              <a:latin typeface="Calibri"/>
              <a:ea typeface="Calibri"/>
              <a:cs typeface="Calibri"/>
              <a:sym typeface="Calibri"/>
            </a:endParaRPr>
          </a:p>
        </p:txBody>
      </p:sp>
      <p:sp>
        <p:nvSpPr>
          <p:cNvPr id="213" name="Google Shape;213;p12"/>
          <p:cNvSpPr txBox="1"/>
          <p:nvPr/>
        </p:nvSpPr>
        <p:spPr>
          <a:xfrm>
            <a:off x="6492240" y="4416552"/>
            <a:ext cx="4910328" cy="1417320"/>
          </a:xfrm>
          <a:prstGeom prst="rect">
            <a:avLst/>
          </a:prstGeom>
          <a:noFill/>
          <a:ln>
            <a:noFill/>
          </a:ln>
        </p:spPr>
        <p:txBody>
          <a:bodyPr anchorCtr="0" anchor="t" bIns="0" lIns="0" spcFirstLastPara="1" rIns="0" wrap="square" tIns="0">
            <a:noAutofit/>
          </a:bodyPr>
          <a:lstStyle/>
          <a:p>
            <a:pPr indent="-342900" lvl="0" marL="342900" marR="0" rtl="0" algn="l">
              <a:spcBef>
                <a:spcPts val="600"/>
              </a:spcBef>
              <a:spcAft>
                <a:spcPts val="0"/>
              </a:spcAft>
              <a:buClr>
                <a:srgbClr val="000000"/>
              </a:buClr>
              <a:buSzPts val="1500"/>
              <a:buFont typeface="Arial"/>
              <a:buChar char="•"/>
            </a:pPr>
            <a:r>
              <a:t/>
            </a:r>
            <a:endParaRPr b="0" i="0" sz="1500" u="none" cap="none" strike="noStrike">
              <a:solidFill>
                <a:schemeClr val="dk1"/>
              </a:solidFill>
              <a:latin typeface="Calibri"/>
              <a:ea typeface="Calibri"/>
              <a:cs typeface="Calibri"/>
              <a:sym typeface="Calibri"/>
            </a:endParaRPr>
          </a:p>
        </p:txBody>
      </p:sp>
      <p:sp>
        <p:nvSpPr>
          <p:cNvPr id="214" name="Google Shape;214;p12"/>
          <p:cNvSpPr txBox="1"/>
          <p:nvPr>
            <p:ph idx="4294967295" type="sldNum"/>
          </p:nvPr>
        </p:nvSpPr>
        <p:spPr>
          <a:xfrm>
            <a:off x="11247120" y="6400800"/>
            <a:ext cx="438912" cy="274320"/>
          </a:xfrm>
          <a:prstGeom prst="rect">
            <a:avLst/>
          </a:prstGeom>
          <a:noFill/>
          <a:ln>
            <a:noFill/>
          </a:ln>
        </p:spPr>
        <p:txBody>
          <a:bodyPr anchorCtr="0" anchor="t"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800" u="none" cap="none" strike="noStrike">
                <a:solidFill>
                  <a:srgbClr val="7F7F7F"/>
                </a:solidFill>
                <a:latin typeface="Arial"/>
                <a:ea typeface="Arial"/>
                <a:cs typeface="Arial"/>
                <a:sym typeface="Arial"/>
              </a:rPr>
              <a:t>‹#›</a:t>
            </a:fld>
            <a:endParaRPr b="0" i="0" sz="800" u="none" cap="none" strike="noStrike">
              <a:solidFill>
                <a:srgbClr val="7F7F7F"/>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p14"/>
          <p:cNvSpPr/>
          <p:nvPr/>
        </p:nvSpPr>
        <p:spPr>
          <a:xfrm>
            <a:off x="548640" y="2651760"/>
            <a:ext cx="64008" cy="1554480"/>
          </a:xfrm>
          <a:prstGeom prst="rect">
            <a:avLst/>
          </a:prstGeom>
          <a:solidFill>
            <a:srgbClr val="E60000"/>
          </a:solidFill>
          <a:ln cap="flat" cmpd="sng" w="12700">
            <a:solidFill>
              <a:srgbClr val="E6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4"/>
          <p:cNvSpPr txBox="1"/>
          <p:nvPr/>
        </p:nvSpPr>
        <p:spPr>
          <a:xfrm>
            <a:off x="868680" y="2651760"/>
            <a:ext cx="10058400" cy="10972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00000"/>
              </a:buClr>
              <a:buSzPts val="6000"/>
              <a:buFont typeface="Arial"/>
              <a:buNone/>
            </a:pPr>
            <a:r>
              <a:rPr lang="en-US" sz="6000"/>
              <a:t>Demo</a:t>
            </a:r>
            <a:endParaRPr b="0" i="0" sz="6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2026-09-22T14:01:54Z</dcterms:created>
  <dc:creator>PptxGenJS</dc:creator>
</cp:coreProperties>
</file>